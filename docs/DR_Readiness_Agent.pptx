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16"/>
    <p:sldId id="261" r:id="rId7"/>
    <p:sldId id="262" r:id="rId8"/>
    <p:sldId id="264" r:id="rId15"/>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  <Relationship Id="rId15" Type="http://schemas.openxmlformats.org/officeDocument/2006/relationships/slide" Target="slides/slide9.xml"/>
  <Relationship Id="rId16" Type="http://schemas.openxmlformats.org/officeDocument/2006/relationships/slide" Target="slides/slide10.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1726"/>
                </a:solidFill>
                <a:latin typeface="Arial"/>
              </a:defRPr>
            </a:pPr>
            <a:r>
              <a:rPr sz="1200" b="0" i="0" u="none" strike="noStrike">
                <a:solidFill>
                  <a:srgbClr val="0E1726"/>
                </a:solidFill>
                <a:latin typeface="Arial"/>
              </a:rPr>
              <a:t>Estimate Service: can we meet a 60 min RTO?</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14B8A6"/>
            </a:solidFill>
            <a:effectLst/>
          </c:spPr>
          <c:invertIfNegative val="0"/>
          <c:dLbls>
            <c:numFmt formatCode="0&quot; min&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4B8A6"/>
              </a:solidFill>
              <a:effectLst/>
            </c:spPr>
          </c:dPt>
          <c:dPt>
            <c:idx val="1"/>
            <c:invertIfNegative val="0"/>
            <c:bubble3D val="0"/>
            <c:spPr>
              <a:solidFill>
                <a:srgbClr val="F5A524"/>
              </a:solidFill>
              <a:effectLst/>
            </c:spPr>
          </c:dPt>
          <c:dPt>
            <c:idx val="2"/>
            <c:invertIfNegative val="0"/>
            <c:bubble3D val="0"/>
            <c:spPr>
              <a:solidFill>
                <a:srgbClr val="0E1726"/>
              </a:solidFill>
              <a:effectLst/>
            </c:spPr>
          </c:dPt>
          <c:cat>
            <c:multiLvlStrRef>
              <c:f>Sheet1!$A$2:$A$4</c:f>
              <c:multiLvlStrCache>
                <c:ptCount val="3"/>
                <c:lvl>
                  <c:pt idx="0">
                    <c:v>Phased execution plan</c:v>
                  </c:pt>
                  <c:pt idx="1">
                    <c:v>Estimated total</c:v>
                  </c:pt>
                  <c:pt idx="2">
                    <c:v>RTO target</c:v>
                  </c:pt>
                </c:lvl>
              </c:multiLvlStrCache>
            </c:multiLvlStrRef>
          </c:cat>
          <c:val>
            <c:numRef>
              <c:f>Sheet1!$B$2:$B$4</c:f>
              <c:numCache>
                <c:formatCode>General</c:formatCode>
                <c:ptCount val="3"/>
                <c:pt idx="0">
                  <c:v>50</c:v>
                </c:pt>
                <c:pt idx="1">
                  <c:v>55</c:v>
                </c:pt>
                <c:pt idx="2">
                  <c:v>60</c:v>
                </c:pt>
              </c:numCache>
            </c:numRef>
          </c:val>
        </c:ser>
        <c:dLbls>
          <c:numFmt formatCode="0&quot; min&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runbooks are written by hand, rarely validated and never cross-checked against live systems. The DR Readiness Agent turns that once-a-year exercise into a repeatable check, and can then carry out the recovery with human approval. Created by Jotiba Patil.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time is lost to surprises (a broken dependency, an unclear owner), to people working out the order under stress, and to slow manual commands. The agent removes surprises before the disaster, hands responders a phased, parallel plan whose tool calls run after approval and verify themselves, and records real timings so the slowest steps get fixed before the next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Runbook text, stored history, tool descriptions and LLM output are all treated as untrusted. Injection is contained in layers: the prompt marks the content as data and escapes it so delimiters cannot be forged; only schema-valid model output is accepted and the key numbers are computed in code; nothing runs without the allow-list, schema and policy checks and a named human approval, two people for destructive calls. Honest gaps for the PoC: no authentication on the API, approvers are self-declared, and no rate limiting. Full details: docs/SECURITY_GUARDRAILS.md.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Shape 0"/>
          <p:cNvSpPr/>
          <p:nvPr/>
        </p:nvSpPr>
        <p:spPr>
          <a:xfrm>
            <a:off x="457200" y="502920"/>
            <a:ext cx="685800" cy="685800"/>
          </a:xfrm>
          <a:prstGeom prst="roundRect">
            <a:avLst>
              <a:gd name="adj" fmla="val 16000"/>
            </a:avLst>
          </a:prstGeom>
          <a:solidFill>
            <a:srgbClr val="F5A524"/>
          </a:solidFill>
          <a:ln w="12700">
            <a:solidFill>
              <a:srgbClr val="F5A524"/>
            </a:solidFill>
            <a:prstDash val="solid"/>
          </a:ln>
        </p:spPr>
      </p:sp>
      <p:pic>
        <p:nvPicPr>
          <p:cNvPr id="3" name="Image 0" descr="preencoded.png">    </p:cNvPr>
          <p:cNvPicPr>
            <a:picLocks noChangeAspect="1"/>
          </p:cNvPicPr>
          <p:nvPr/>
        </p:nvPicPr>
        <p:blipFill>
          <a:blip r:embed="rId1"/>
          <a:stretch>
            <a:fillRect/>
          </a:stretch>
        </p:blipFill>
        <p:spPr>
          <a:xfrm>
            <a:off x="635508" y="681228"/>
            <a:ext cx="329184" cy="329184"/>
          </a:xfrm>
          <a:prstGeom prst="rect">
            <a:avLst/>
          </a:prstGeom>
        </p:spPr>
      </p:pic>
      <p:sp>
        <p:nvSpPr>
          <p:cNvPr id="4" name="Text 1"/>
          <p:cNvSpPr txBox="1"/>
          <p:nvPr/>
        </p:nvSpPr>
        <p:spPr>
          <a:xfrm>
            <a:off x="457200" y="137160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DR Readiness Agent</a:t>
            </a:r>
            <a:endParaRPr lang="en-US" sz="4400" dirty="0"/>
          </a:p>
        </p:txBody>
      </p:sp>
      <p:sp>
        <p:nvSpPr>
          <p:cNvPr id="5" name="Text 2"/>
          <p:cNvSpPr txBox="1"/>
          <p:nvPr/>
        </p:nvSpPr>
        <p:spPr>
          <a:xfrm>
            <a:off x="457200" y="2194560"/>
            <a:ext cx="7772400" cy="457200"/>
          </a:xfrm>
          <a:prstGeom prst="rect">
            <a:avLst/>
          </a:prstGeom>
          <a:noFill/>
          <a:ln/>
        </p:spPr>
        <p:txBody>
          <a:bodyPr wrap="square" lIns="0" tIns="0" rIns="0" bIns="0" rtlCol="0" anchor="ctr"/>
          <a:lstStyle/>
          <a:p>
            <a:pPr indent="0" marL="0">
              <a:buNone/>
            </a:pPr>
            <a:r>
              <a:rPr lang="en-US" sz="1800" i="1" dirty="0">
                <a:solidFill>
                  <a:srgbClr val="CBD5E1"/>
                </a:solidFill>
                <a:latin typeface="Calibri" pitchFamily="34" charset="0"/>
                <a:ea typeface="Calibri" pitchFamily="34" charset="-122"/>
                <a:cs typeface="Calibri" pitchFamily="34" charset="-120"/>
              </a:rPr>
              <a:t>From a hand-written runbook to a verified, human-approved recovery</a:t>
            </a:r>
            <a:endParaRPr lang="en-US" sz="1800" dirty="0"/>
          </a:p>
        </p:txBody>
      </p:sp>
      <p:sp>
        <p:nvSpPr>
          <p:cNvPr id="6" name="Text 3"/>
          <p:cNvSpPr txBox="1"/>
          <p:nvPr/>
        </p:nvSpPr>
        <p:spPr>
          <a:xfrm>
            <a:off x="457200" y="2788920"/>
            <a:ext cx="7863840"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An AI assistant for disaster recovery. It reads your DR runbooks, checks them against the systems they depend on, and tells you whether you can recover in time. Then it helps your team carry out the recovery, step by step, with human approval.</a:t>
            </a:r>
            <a:endParaRPr lang="en-US" sz="1400" dirty="0"/>
          </a:p>
        </p:txBody>
      </p:sp>
      <p:sp>
        <p:nvSpPr>
          <p:cNvPr id="7" name="Shape 4"/>
          <p:cNvSpPr/>
          <p:nvPr/>
        </p:nvSpPr>
        <p:spPr>
          <a:xfrm>
            <a:off x="457200" y="3703320"/>
            <a:ext cx="1965960" cy="365760"/>
          </a:xfrm>
          <a:prstGeom prst="roundRect">
            <a:avLst>
              <a:gd name="adj" fmla="val 50000"/>
            </a:avLst>
          </a:prstGeom>
          <a:solidFill>
            <a:srgbClr val="1B2A41"/>
          </a:solidFill>
          <a:ln w="12700">
            <a:solidFill>
              <a:srgbClr val="14B8A6"/>
            </a:solidFill>
            <a:prstDash val="solid"/>
          </a:ln>
        </p:spPr>
      </p:sp>
      <p:sp>
        <p:nvSpPr>
          <p:cNvPr id="8" name="Text 5"/>
          <p:cNvSpPr txBox="1"/>
          <p:nvPr/>
        </p:nvSpPr>
        <p:spPr>
          <a:xfrm>
            <a:off x="457200" y="3703320"/>
            <a:ext cx="1965960" cy="365760"/>
          </a:xfrm>
          <a:prstGeom prst="rect">
            <a:avLst/>
          </a:prstGeom>
          <a:noFill/>
          <a:ln/>
        </p:spPr>
        <p:txBody>
          <a:bodyPr wrap="square" lIns="0" tIns="0" rIns="0" bIns="0" rtlCol="0" anchor="ctr"/>
          <a:lstStyle/>
          <a:p>
            <a:pPr algn="ctr" indent="0" marL="0">
              <a:buNone/>
            </a:pPr>
            <a:r>
              <a:rPr lang="en-US" sz="1200" b="1" dirty="0">
                <a:solidFill>
                  <a:srgbClr val="14B8A6"/>
                </a:solidFill>
                <a:latin typeface="Calibri" pitchFamily="34" charset="0"/>
                <a:ea typeface="Calibri" pitchFamily="34" charset="-122"/>
                <a:cs typeface="Calibri" pitchFamily="34" charset="-120"/>
              </a:rPr>
              <a:t>Checks readiness</a:t>
            </a:r>
            <a:endParaRPr lang="en-US" sz="1200" dirty="0"/>
          </a:p>
        </p:txBody>
      </p:sp>
      <p:sp>
        <p:nvSpPr>
          <p:cNvPr id="9" name="Shape 6"/>
          <p:cNvSpPr/>
          <p:nvPr/>
        </p:nvSpPr>
        <p:spPr>
          <a:xfrm>
            <a:off x="2606040" y="3703320"/>
            <a:ext cx="1965960" cy="365760"/>
          </a:xfrm>
          <a:prstGeom prst="roundRect">
            <a:avLst>
              <a:gd name="adj" fmla="val 50000"/>
            </a:avLst>
          </a:prstGeom>
          <a:solidFill>
            <a:srgbClr val="1B2A41"/>
          </a:solidFill>
          <a:ln w="12700">
            <a:solidFill>
              <a:srgbClr val="F5A524"/>
            </a:solidFill>
            <a:prstDash val="solid"/>
          </a:ln>
        </p:spPr>
      </p:sp>
      <p:sp>
        <p:nvSpPr>
          <p:cNvPr id="10" name="Text 7"/>
          <p:cNvSpPr txBox="1"/>
          <p:nvPr/>
        </p:nvSpPr>
        <p:spPr>
          <a:xfrm>
            <a:off x="2606040" y="3703320"/>
            <a:ext cx="1965960" cy="365760"/>
          </a:xfrm>
          <a:prstGeom prst="rect">
            <a:avLst/>
          </a:prstGeom>
          <a:noFill/>
          <a:ln/>
        </p:spPr>
        <p:txBody>
          <a:bodyPr wrap="square" lIns="0" tIns="0" rIns="0" bIns="0" rtlCol="0" anchor="ctr"/>
          <a:lstStyle/>
          <a:p>
            <a:pPr algn="ctr" indent="0" marL="0">
              <a:buNone/>
            </a:pPr>
            <a:r>
              <a:rPr lang="en-US" sz="1200" b="1" dirty="0">
                <a:solidFill>
                  <a:srgbClr val="F5A524"/>
                </a:solidFill>
                <a:latin typeface="Calibri" pitchFamily="34" charset="0"/>
                <a:ea typeface="Calibri" pitchFamily="34" charset="-122"/>
                <a:cs typeface="Calibri" pitchFamily="34" charset="-120"/>
              </a:rPr>
              <a:t>Guides recovery</a:t>
            </a:r>
            <a:endParaRPr lang="en-US" sz="1200" dirty="0"/>
          </a:p>
        </p:txBody>
      </p:sp>
      <p:sp>
        <p:nvSpPr>
          <p:cNvPr id="11" name="Shape 8"/>
          <p:cNvSpPr/>
          <p:nvPr/>
        </p:nvSpPr>
        <p:spPr>
          <a:xfrm>
            <a:off x="4754880" y="3703320"/>
            <a:ext cx="1965960" cy="365760"/>
          </a:xfrm>
          <a:prstGeom prst="roundRect">
            <a:avLst>
              <a:gd name="adj" fmla="val 50000"/>
            </a:avLst>
          </a:prstGeom>
          <a:solidFill>
            <a:srgbClr val="1B2A41"/>
          </a:solidFill>
          <a:ln w="12700">
            <a:solidFill>
              <a:srgbClr val="E5484D"/>
            </a:solidFill>
            <a:prstDash val="solid"/>
          </a:ln>
        </p:spPr>
      </p:sp>
      <p:sp>
        <p:nvSpPr>
          <p:cNvPr id="12" name="Text 9"/>
          <p:cNvSpPr txBox="1"/>
          <p:nvPr/>
        </p:nvSpPr>
        <p:spPr>
          <a:xfrm>
            <a:off x="4754880" y="3703320"/>
            <a:ext cx="1965960" cy="365760"/>
          </a:xfrm>
          <a:prstGeom prst="rect">
            <a:avLst/>
          </a:prstGeom>
          <a:noFill/>
          <a:ln/>
        </p:spPr>
        <p:txBody>
          <a:bodyPr wrap="square" lIns="0" tIns="0" rIns="0" bIns="0" rtlCol="0" anchor="ctr"/>
          <a:lstStyle/>
          <a:p>
            <a:pPr algn="ctr" indent="0" marL="0">
              <a:buNone/>
            </a:pPr>
            <a:r>
              <a:rPr lang="en-US" sz="1200" b="1" dirty="0">
                <a:solidFill>
                  <a:srgbClr val="E5484D"/>
                </a:solidFill>
                <a:latin typeface="Calibri" pitchFamily="34" charset="0"/>
                <a:ea typeface="Calibri" pitchFamily="34" charset="-122"/>
                <a:cs typeface="Calibri" pitchFamily="34" charset="-120"/>
              </a:rPr>
              <a:t>Learns from every run</a:t>
            </a:r>
            <a:endParaRPr lang="en-US" sz="1200" dirty="0"/>
          </a:p>
        </p:txBody>
      </p:sp>
      <p:sp>
        <p:nvSpPr>
          <p:cNvPr id="13" name="Text 10"/>
          <p:cNvSpPr txBox="1"/>
          <p:nvPr/>
        </p:nvSpPr>
        <p:spPr>
          <a:xfrm>
            <a:off x="457200" y="4389120"/>
            <a:ext cx="5486400" cy="365760"/>
          </a:xfrm>
          <a:prstGeom prst="rect">
            <a:avLst/>
          </a:prstGeom>
          <a:noFill/>
          <a:ln/>
        </p:spPr>
        <p:txBody>
          <a:bodyPr wrap="square" lIns="0" tIns="0" rIns="0" bIns="0" rtlCol="0" anchor="ctr"/>
          <a:lstStyle/>
          <a:p>
            <a:pPr indent="0" marL="0">
              <a:buNone/>
            </a:pPr>
            <a:r>
              <a:rPr lang="en-US" sz="1000" b="1" spc="200" kern="0" dirty="0">
                <a:solidFill>
                  <a:srgbClr val="F5A524"/>
                </a:solidFill>
                <a:latin typeface="Arial" pitchFamily="34" charset="0"/>
                <a:ea typeface="Arial" pitchFamily="34" charset="-122"/>
                <a:cs typeface="Arial" pitchFamily="34" charset="-120"/>
              </a:rPr>
              <a:t>CREATED BY  </a:t>
            </a:r>
            <a:pPr indent="0" marL="0">
              <a:buNone/>
            </a:pPr>
            <a:r>
              <a:rPr lang="en-US" sz="1600" b="1" dirty="0">
                <a:solidFill>
                  <a:srgbClr val="FFFFFF"/>
                </a:solidFill>
                <a:latin typeface="Arial" pitchFamily="34" charset="0"/>
                <a:ea typeface="Arial" pitchFamily="34" charset="-122"/>
                <a:cs typeface="Arial" pitchFamily="34" charset="-120"/>
              </a:rPr>
              <a:t>Jotiba Patil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WHAT IT DOES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0E1726"/>
                </a:solidFill>
                <a:latin typeface="Arial" pitchFamily="34" charset="0"/>
                <a:ea typeface="Arial" pitchFamily="34" charset="-122"/>
                <a:cs typeface="Arial" pitchFamily="34" charset="-120"/>
              </a:rPr>
              <a:t>Four steps from Markdown to a verdict</a:t>
            </a:r>
            <a:endParaRPr lang="en-US" sz="2800" dirty="0"/>
          </a:p>
        </p:txBody>
      </p:sp>
      <p:sp>
        <p:nvSpPr>
          <p:cNvPr id="4" name="Shape 2"/>
          <p:cNvSpPr/>
          <p:nvPr/>
        </p:nvSpPr>
        <p:spPr>
          <a:xfrm>
            <a:off x="457200" y="1417320"/>
            <a:ext cx="1874520" cy="3108960"/>
          </a:xfrm>
          <a:prstGeom prst="roundRect">
            <a:avLst>
              <a:gd name="adj" fmla="val 4878"/>
            </a:avLst>
          </a:prstGeom>
          <a:solidFill>
            <a:srgbClr val="F1F5F9"/>
          </a:solidFill>
          <a:ln w="12700">
            <a:solidFill>
              <a:srgbClr val="F1F5F9"/>
            </a:solidFill>
            <a:prstDash val="solid"/>
          </a:ln>
        </p:spPr>
      </p:sp>
      <p:sp>
        <p:nvSpPr>
          <p:cNvPr id="5" name="Shape 3"/>
          <p:cNvSpPr/>
          <p:nvPr/>
        </p:nvSpPr>
        <p:spPr>
          <a:xfrm>
            <a:off x="640080" y="1600200"/>
            <a:ext cx="640080" cy="640080"/>
          </a:xfrm>
          <a:prstGeom prst="roundRect">
            <a:avLst>
              <a:gd name="adj" fmla="val 17143"/>
            </a:avLst>
          </a:prstGeom>
          <a:solidFill>
            <a:srgbClr val="0E1726"/>
          </a:solidFill>
          <a:ln w="12700">
            <a:solidFill>
              <a:srgbClr val="0E1726"/>
            </a:solidFill>
            <a:prstDash val="solid"/>
          </a:ln>
        </p:spPr>
      </p:sp>
      <p:pic>
        <p:nvPicPr>
          <p:cNvPr id="6" name="Image 0" descr="preencoded.png">    </p:cNvPr>
          <p:cNvPicPr>
            <a:picLocks noChangeAspect="1"/>
          </p:cNvPicPr>
          <p:nvPr/>
        </p:nvPicPr>
        <p:blipFill>
          <a:blip r:embed="rId1"/>
          <a:stretch>
            <a:fillRect/>
          </a:stretch>
        </p:blipFill>
        <p:spPr>
          <a:xfrm>
            <a:off x="806501" y="1766621"/>
            <a:ext cx="307238" cy="307238"/>
          </a:xfrm>
          <a:prstGeom prst="rect">
            <a:avLst/>
          </a:prstGeom>
        </p:spPr>
      </p:pic>
      <p:sp>
        <p:nvSpPr>
          <p:cNvPr id="7" name="Text 4"/>
          <p:cNvSpPr txBox="1"/>
          <p:nvPr/>
        </p:nvSpPr>
        <p:spPr>
          <a:xfrm>
            <a:off x="1554480" y="1645920"/>
            <a:ext cx="594360" cy="365760"/>
          </a:xfrm>
          <a:prstGeom prst="rect">
            <a:avLst/>
          </a:prstGeom>
          <a:noFill/>
          <a:ln/>
        </p:spPr>
        <p:txBody>
          <a:bodyPr wrap="square" lIns="0" tIns="0" rIns="0" bIns="0" rtlCol="0" anchor="ctr"/>
          <a:lstStyle/>
          <a:p>
            <a:pPr algn="r" indent="0" marL="0">
              <a:buNone/>
            </a:pPr>
            <a:r>
              <a:rPr lang="en-US" sz="1600" b="1" dirty="0">
                <a:solidFill>
                  <a:srgbClr val="CBD5E1"/>
                </a:solidFill>
                <a:latin typeface="Arial" pitchFamily="34" charset="0"/>
                <a:ea typeface="Arial" pitchFamily="34" charset="-122"/>
                <a:cs typeface="Arial" pitchFamily="34" charset="-120"/>
              </a:rPr>
              <a:t>01</a:t>
            </a:r>
            <a:endParaRPr lang="en-US" sz="1600" dirty="0"/>
          </a:p>
        </p:txBody>
      </p:sp>
      <p:sp>
        <p:nvSpPr>
          <p:cNvPr id="8" name="Text 5"/>
          <p:cNvSpPr txBox="1"/>
          <p:nvPr/>
        </p:nvSpPr>
        <p:spPr>
          <a:xfrm>
            <a:off x="640080" y="2377440"/>
            <a:ext cx="1554480" cy="411480"/>
          </a:xfrm>
          <a:prstGeom prst="rect">
            <a:avLst/>
          </a:prstGeom>
          <a:noFill/>
          <a:ln/>
        </p:spPr>
        <p:txBody>
          <a:bodyPr wrap="square" lIns="0" tIns="0" rIns="0" bIns="0" rtlCol="0" anchor="ctr"/>
          <a:lstStyle/>
          <a:p>
            <a:pPr indent="0" marL="0">
              <a:buNone/>
            </a:pPr>
            <a:r>
              <a:rPr lang="en-US" sz="1800" b="1" dirty="0">
                <a:solidFill>
                  <a:srgbClr val="0E1726"/>
                </a:solidFill>
                <a:latin typeface="Arial" pitchFamily="34" charset="0"/>
                <a:ea typeface="Arial" pitchFamily="34" charset="-122"/>
                <a:cs typeface="Arial" pitchFamily="34" charset="-120"/>
              </a:rPr>
              <a:t>Parse</a:t>
            </a:r>
            <a:endParaRPr lang="en-US" sz="1800" dirty="0"/>
          </a:p>
        </p:txBody>
      </p:sp>
      <p:sp>
        <p:nvSpPr>
          <p:cNvPr id="9" name="Text 6"/>
          <p:cNvSpPr txBox="1"/>
          <p:nvPr/>
        </p:nvSpPr>
        <p:spPr>
          <a:xfrm>
            <a:off x="640080" y="2834640"/>
            <a:ext cx="1554480" cy="155448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Any Markdown runbook becomes structured data: service, owner, RTO/RPO, dependencies, ordered steps with owners and times.</a:t>
            </a:r>
            <a:endParaRPr lang="en-US" sz="1250" dirty="0"/>
          </a:p>
        </p:txBody>
      </p:sp>
      <p:sp>
        <p:nvSpPr>
          <p:cNvPr id="10" name="Shape 7"/>
          <p:cNvSpPr/>
          <p:nvPr/>
        </p:nvSpPr>
        <p:spPr>
          <a:xfrm rot="5400000">
            <a:off x="2304288" y="2889504"/>
            <a:ext cx="274320" cy="164592"/>
          </a:xfrm>
          <a:prstGeom prst="triangle">
            <a:avLst/>
          </a:prstGeom>
          <a:solidFill>
            <a:srgbClr val="F5A524"/>
          </a:solidFill>
          <a:ln w="12700">
            <a:solidFill>
              <a:srgbClr val="F5A524"/>
            </a:solidFill>
            <a:prstDash val="solid"/>
          </a:ln>
        </p:spPr>
      </p:sp>
      <p:sp>
        <p:nvSpPr>
          <p:cNvPr id="11" name="Shape 8"/>
          <p:cNvSpPr/>
          <p:nvPr/>
        </p:nvSpPr>
        <p:spPr>
          <a:xfrm>
            <a:off x="2560320" y="1417320"/>
            <a:ext cx="1874520" cy="3108960"/>
          </a:xfrm>
          <a:prstGeom prst="roundRect">
            <a:avLst>
              <a:gd name="adj" fmla="val 4878"/>
            </a:avLst>
          </a:prstGeom>
          <a:solidFill>
            <a:srgbClr val="F1F5F9"/>
          </a:solidFill>
          <a:ln w="12700">
            <a:solidFill>
              <a:srgbClr val="F1F5F9"/>
            </a:solidFill>
            <a:prstDash val="solid"/>
          </a:ln>
        </p:spPr>
      </p:sp>
      <p:sp>
        <p:nvSpPr>
          <p:cNvPr id="12" name="Shape 9"/>
          <p:cNvSpPr/>
          <p:nvPr/>
        </p:nvSpPr>
        <p:spPr>
          <a:xfrm>
            <a:off x="2743200" y="1600200"/>
            <a:ext cx="640080" cy="640080"/>
          </a:xfrm>
          <a:prstGeom prst="roundRect">
            <a:avLst>
              <a:gd name="adj" fmla="val 17143"/>
            </a:avLst>
          </a:prstGeom>
          <a:solidFill>
            <a:srgbClr val="14B8A6"/>
          </a:solidFill>
          <a:ln w="12700">
            <a:solidFill>
              <a:srgbClr val="14B8A6"/>
            </a:solidFill>
            <a:prstDash val="solid"/>
          </a:ln>
        </p:spPr>
      </p:sp>
      <p:pic>
        <p:nvPicPr>
          <p:cNvPr id="13" name="Image 1" descr="preencoded.png">    </p:cNvPr>
          <p:cNvPicPr>
            <a:picLocks noChangeAspect="1"/>
          </p:cNvPicPr>
          <p:nvPr/>
        </p:nvPicPr>
        <p:blipFill>
          <a:blip r:embed="rId2"/>
          <a:stretch>
            <a:fillRect/>
          </a:stretch>
        </p:blipFill>
        <p:spPr>
          <a:xfrm>
            <a:off x="2909621" y="1766621"/>
            <a:ext cx="307238" cy="307238"/>
          </a:xfrm>
          <a:prstGeom prst="rect">
            <a:avLst/>
          </a:prstGeom>
        </p:spPr>
      </p:pic>
      <p:sp>
        <p:nvSpPr>
          <p:cNvPr id="14" name="Text 10"/>
          <p:cNvSpPr txBox="1"/>
          <p:nvPr/>
        </p:nvSpPr>
        <p:spPr>
          <a:xfrm>
            <a:off x="3657600" y="1645920"/>
            <a:ext cx="594360" cy="365760"/>
          </a:xfrm>
          <a:prstGeom prst="rect">
            <a:avLst/>
          </a:prstGeom>
          <a:noFill/>
          <a:ln/>
        </p:spPr>
        <p:txBody>
          <a:bodyPr wrap="square" lIns="0" tIns="0" rIns="0" bIns="0" rtlCol="0" anchor="ctr"/>
          <a:lstStyle/>
          <a:p>
            <a:pPr algn="r" indent="0" marL="0">
              <a:buNone/>
            </a:pPr>
            <a:r>
              <a:rPr lang="en-US" sz="1600" b="1" dirty="0">
                <a:solidFill>
                  <a:srgbClr val="CBD5E1"/>
                </a:solidFill>
                <a:latin typeface="Arial" pitchFamily="34" charset="0"/>
                <a:ea typeface="Arial" pitchFamily="34" charset="-122"/>
                <a:cs typeface="Arial" pitchFamily="34" charset="-120"/>
              </a:rPr>
              <a:t>02</a:t>
            </a:r>
            <a:endParaRPr lang="en-US" sz="1600" dirty="0"/>
          </a:p>
        </p:txBody>
      </p:sp>
      <p:sp>
        <p:nvSpPr>
          <p:cNvPr id="15" name="Text 11"/>
          <p:cNvSpPr txBox="1"/>
          <p:nvPr/>
        </p:nvSpPr>
        <p:spPr>
          <a:xfrm>
            <a:off x="2743200" y="2377440"/>
            <a:ext cx="1554480" cy="411480"/>
          </a:xfrm>
          <a:prstGeom prst="rect">
            <a:avLst/>
          </a:prstGeom>
          <a:noFill/>
          <a:ln/>
        </p:spPr>
        <p:txBody>
          <a:bodyPr wrap="square" lIns="0" tIns="0" rIns="0" bIns="0" rtlCol="0" anchor="ctr"/>
          <a:lstStyle/>
          <a:p>
            <a:pPr indent="0" marL="0">
              <a:buNone/>
            </a:pPr>
            <a:r>
              <a:rPr lang="en-US" sz="1800" b="1" dirty="0">
                <a:solidFill>
                  <a:srgbClr val="0E1726"/>
                </a:solidFill>
                <a:latin typeface="Arial" pitchFamily="34" charset="0"/>
                <a:ea typeface="Arial" pitchFamily="34" charset="-122"/>
                <a:cs typeface="Arial" pitchFamily="34" charset="-120"/>
              </a:rPr>
              <a:t>Validate</a:t>
            </a:r>
            <a:endParaRPr lang="en-US" sz="1800" dirty="0"/>
          </a:p>
        </p:txBody>
      </p:sp>
      <p:sp>
        <p:nvSpPr>
          <p:cNvPr id="16" name="Text 12"/>
          <p:cNvSpPr txBox="1"/>
          <p:nvPr/>
        </p:nvSpPr>
        <p:spPr>
          <a:xfrm>
            <a:off x="2743200" y="2834640"/>
            <a:ext cx="1554480" cy="155448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Each dependency is checked against a health inventory (mocked here, swappable for live checks).</a:t>
            </a:r>
            <a:endParaRPr lang="en-US" sz="1250" dirty="0"/>
          </a:p>
        </p:txBody>
      </p:sp>
      <p:sp>
        <p:nvSpPr>
          <p:cNvPr id="17" name="Shape 13"/>
          <p:cNvSpPr/>
          <p:nvPr/>
        </p:nvSpPr>
        <p:spPr>
          <a:xfrm rot="5400000">
            <a:off x="4407408" y="2889504"/>
            <a:ext cx="274320" cy="164592"/>
          </a:xfrm>
          <a:prstGeom prst="triangle">
            <a:avLst/>
          </a:prstGeom>
          <a:solidFill>
            <a:srgbClr val="F5A524"/>
          </a:solidFill>
          <a:ln w="12700">
            <a:solidFill>
              <a:srgbClr val="F5A524"/>
            </a:solidFill>
            <a:prstDash val="solid"/>
          </a:ln>
        </p:spPr>
      </p:sp>
      <p:sp>
        <p:nvSpPr>
          <p:cNvPr id="18" name="Shape 14"/>
          <p:cNvSpPr/>
          <p:nvPr/>
        </p:nvSpPr>
        <p:spPr>
          <a:xfrm>
            <a:off x="4663440" y="1417320"/>
            <a:ext cx="1874520" cy="3108960"/>
          </a:xfrm>
          <a:prstGeom prst="roundRect">
            <a:avLst>
              <a:gd name="adj" fmla="val 4878"/>
            </a:avLst>
          </a:prstGeom>
          <a:solidFill>
            <a:srgbClr val="F1F5F9"/>
          </a:solidFill>
          <a:ln w="12700">
            <a:solidFill>
              <a:srgbClr val="F1F5F9"/>
            </a:solidFill>
            <a:prstDash val="solid"/>
          </a:ln>
        </p:spPr>
      </p:sp>
      <p:sp>
        <p:nvSpPr>
          <p:cNvPr id="19" name="Shape 15"/>
          <p:cNvSpPr/>
          <p:nvPr/>
        </p:nvSpPr>
        <p:spPr>
          <a:xfrm>
            <a:off x="4846320" y="1600200"/>
            <a:ext cx="640080" cy="640080"/>
          </a:xfrm>
          <a:prstGeom prst="roundRect">
            <a:avLst>
              <a:gd name="adj" fmla="val 17143"/>
            </a:avLst>
          </a:prstGeom>
          <a:solidFill>
            <a:srgbClr val="F5A524"/>
          </a:solidFill>
          <a:ln w="12700">
            <a:solidFill>
              <a:srgbClr val="F5A524"/>
            </a:solidFill>
            <a:prstDash val="solid"/>
          </a:ln>
        </p:spPr>
      </p:sp>
      <p:pic>
        <p:nvPicPr>
          <p:cNvPr id="20" name="Image 2" descr="preencoded.png">    </p:cNvPr>
          <p:cNvPicPr>
            <a:picLocks noChangeAspect="1"/>
          </p:cNvPicPr>
          <p:nvPr/>
        </p:nvPicPr>
        <p:blipFill>
          <a:blip r:embed="rId3"/>
          <a:stretch>
            <a:fillRect/>
          </a:stretch>
        </p:blipFill>
        <p:spPr>
          <a:xfrm>
            <a:off x="5012741" y="1766621"/>
            <a:ext cx="307238" cy="307238"/>
          </a:xfrm>
          <a:prstGeom prst="rect">
            <a:avLst/>
          </a:prstGeom>
        </p:spPr>
      </p:pic>
      <p:sp>
        <p:nvSpPr>
          <p:cNvPr id="21" name="Text 16"/>
          <p:cNvSpPr txBox="1"/>
          <p:nvPr/>
        </p:nvSpPr>
        <p:spPr>
          <a:xfrm>
            <a:off x="5760720" y="1645920"/>
            <a:ext cx="594360" cy="365760"/>
          </a:xfrm>
          <a:prstGeom prst="rect">
            <a:avLst/>
          </a:prstGeom>
          <a:noFill/>
          <a:ln/>
        </p:spPr>
        <p:txBody>
          <a:bodyPr wrap="square" lIns="0" tIns="0" rIns="0" bIns="0" rtlCol="0" anchor="ctr"/>
          <a:lstStyle/>
          <a:p>
            <a:pPr algn="r" indent="0" marL="0">
              <a:buNone/>
            </a:pPr>
            <a:r>
              <a:rPr lang="en-US" sz="1600" b="1" dirty="0">
                <a:solidFill>
                  <a:srgbClr val="CBD5E1"/>
                </a:solidFill>
                <a:latin typeface="Arial" pitchFamily="34" charset="0"/>
                <a:ea typeface="Arial" pitchFamily="34" charset="-122"/>
                <a:cs typeface="Arial" pitchFamily="34" charset="-120"/>
              </a:rPr>
              <a:t>03</a:t>
            </a:r>
            <a:endParaRPr lang="en-US" sz="1600" dirty="0"/>
          </a:p>
        </p:txBody>
      </p:sp>
      <p:sp>
        <p:nvSpPr>
          <p:cNvPr id="22" name="Text 17"/>
          <p:cNvSpPr txBox="1"/>
          <p:nvPr/>
        </p:nvSpPr>
        <p:spPr>
          <a:xfrm>
            <a:off x="4846320" y="2377440"/>
            <a:ext cx="1554480" cy="411480"/>
          </a:xfrm>
          <a:prstGeom prst="rect">
            <a:avLst/>
          </a:prstGeom>
          <a:noFill/>
          <a:ln/>
        </p:spPr>
        <p:txBody>
          <a:bodyPr wrap="square" lIns="0" tIns="0" rIns="0" bIns="0" rtlCol="0" anchor="ctr"/>
          <a:lstStyle/>
          <a:p>
            <a:pPr indent="0" marL="0">
              <a:buNone/>
            </a:pPr>
            <a:r>
              <a:rPr lang="en-US" sz="1800" b="1" dirty="0">
                <a:solidFill>
                  <a:srgbClr val="0E1726"/>
                </a:solidFill>
                <a:latin typeface="Arial" pitchFamily="34" charset="0"/>
                <a:ea typeface="Arial" pitchFamily="34" charset="-122"/>
                <a:cs typeface="Arial" pitchFamily="34" charset="-120"/>
              </a:rPr>
              <a:t>Analyze</a:t>
            </a:r>
            <a:endParaRPr lang="en-US" sz="1800" dirty="0"/>
          </a:p>
        </p:txBody>
      </p:sp>
      <p:sp>
        <p:nvSpPr>
          <p:cNvPr id="23" name="Text 18"/>
          <p:cNvSpPr txBox="1"/>
          <p:nvPr/>
        </p:nvSpPr>
        <p:spPr>
          <a:xfrm>
            <a:off x="4846320" y="2834640"/>
            <a:ext cx="1554480" cy="155448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Code computes the facts; an LLM adds reasoning. Falls back to rule-based results if the model is down.</a:t>
            </a:r>
            <a:endParaRPr lang="en-US" sz="1250" dirty="0"/>
          </a:p>
        </p:txBody>
      </p:sp>
      <p:sp>
        <p:nvSpPr>
          <p:cNvPr id="24" name="Shape 19"/>
          <p:cNvSpPr/>
          <p:nvPr/>
        </p:nvSpPr>
        <p:spPr>
          <a:xfrm rot="5400000">
            <a:off x="6510528" y="2889504"/>
            <a:ext cx="274320" cy="164592"/>
          </a:xfrm>
          <a:prstGeom prst="triangle">
            <a:avLst/>
          </a:prstGeom>
          <a:solidFill>
            <a:srgbClr val="F5A524"/>
          </a:solidFill>
          <a:ln w="12700">
            <a:solidFill>
              <a:srgbClr val="F5A524"/>
            </a:solidFill>
            <a:prstDash val="solid"/>
          </a:ln>
        </p:spPr>
      </p:sp>
      <p:sp>
        <p:nvSpPr>
          <p:cNvPr id="25" name="Shape 20"/>
          <p:cNvSpPr/>
          <p:nvPr/>
        </p:nvSpPr>
        <p:spPr>
          <a:xfrm>
            <a:off x="6766560" y="1417320"/>
            <a:ext cx="1874520" cy="3108960"/>
          </a:xfrm>
          <a:prstGeom prst="roundRect">
            <a:avLst>
              <a:gd name="adj" fmla="val 4878"/>
            </a:avLst>
          </a:prstGeom>
          <a:solidFill>
            <a:srgbClr val="F1F5F9"/>
          </a:solidFill>
          <a:ln w="12700">
            <a:solidFill>
              <a:srgbClr val="F1F5F9"/>
            </a:solidFill>
            <a:prstDash val="solid"/>
          </a:ln>
        </p:spPr>
      </p:sp>
      <p:sp>
        <p:nvSpPr>
          <p:cNvPr id="26" name="Shape 21"/>
          <p:cNvSpPr/>
          <p:nvPr/>
        </p:nvSpPr>
        <p:spPr>
          <a:xfrm>
            <a:off x="6949440" y="1600200"/>
            <a:ext cx="640080" cy="640080"/>
          </a:xfrm>
          <a:prstGeom prst="roundRect">
            <a:avLst>
              <a:gd name="adj" fmla="val 17143"/>
            </a:avLst>
          </a:prstGeom>
          <a:solidFill>
            <a:srgbClr val="E5484D"/>
          </a:solidFill>
          <a:ln w="12700">
            <a:solidFill>
              <a:srgbClr val="E5484D"/>
            </a:solidFill>
            <a:prstDash val="solid"/>
          </a:ln>
        </p:spPr>
      </p:sp>
      <p:pic>
        <p:nvPicPr>
          <p:cNvPr id="27" name="Image 3" descr="preencoded.png">    </p:cNvPr>
          <p:cNvPicPr>
            <a:picLocks noChangeAspect="1"/>
          </p:cNvPicPr>
          <p:nvPr/>
        </p:nvPicPr>
        <p:blipFill>
          <a:blip r:embed="rId4"/>
          <a:stretch>
            <a:fillRect/>
          </a:stretch>
        </p:blipFill>
        <p:spPr>
          <a:xfrm>
            <a:off x="7115861" y="1766621"/>
            <a:ext cx="307238" cy="307238"/>
          </a:xfrm>
          <a:prstGeom prst="rect">
            <a:avLst/>
          </a:prstGeom>
        </p:spPr>
      </p:pic>
      <p:sp>
        <p:nvSpPr>
          <p:cNvPr id="28" name="Text 22"/>
          <p:cNvSpPr txBox="1"/>
          <p:nvPr/>
        </p:nvSpPr>
        <p:spPr>
          <a:xfrm>
            <a:off x="7863840" y="1645920"/>
            <a:ext cx="594360" cy="365760"/>
          </a:xfrm>
          <a:prstGeom prst="rect">
            <a:avLst/>
          </a:prstGeom>
          <a:noFill/>
          <a:ln/>
        </p:spPr>
        <p:txBody>
          <a:bodyPr wrap="square" lIns="0" tIns="0" rIns="0" bIns="0" rtlCol="0" anchor="ctr"/>
          <a:lstStyle/>
          <a:p>
            <a:pPr algn="r" indent="0" marL="0">
              <a:buNone/>
            </a:pPr>
            <a:r>
              <a:rPr lang="en-US" sz="1600" b="1" dirty="0">
                <a:solidFill>
                  <a:srgbClr val="CBD5E1"/>
                </a:solidFill>
                <a:latin typeface="Arial" pitchFamily="34" charset="0"/>
                <a:ea typeface="Arial" pitchFamily="34" charset="-122"/>
                <a:cs typeface="Arial" pitchFamily="34" charset="-120"/>
              </a:rPr>
              <a:t>04</a:t>
            </a:r>
            <a:endParaRPr lang="en-US" sz="1600" dirty="0"/>
          </a:p>
        </p:txBody>
      </p:sp>
      <p:sp>
        <p:nvSpPr>
          <p:cNvPr id="29" name="Text 23"/>
          <p:cNvSpPr txBox="1"/>
          <p:nvPr/>
        </p:nvSpPr>
        <p:spPr>
          <a:xfrm>
            <a:off x="6949440" y="2377440"/>
            <a:ext cx="1554480" cy="411480"/>
          </a:xfrm>
          <a:prstGeom prst="rect">
            <a:avLst/>
          </a:prstGeom>
          <a:noFill/>
          <a:ln/>
        </p:spPr>
        <p:txBody>
          <a:bodyPr wrap="square" lIns="0" tIns="0" rIns="0" bIns="0" rtlCol="0" anchor="ctr"/>
          <a:lstStyle/>
          <a:p>
            <a:pPr indent="0" marL="0">
              <a:buNone/>
            </a:pPr>
            <a:r>
              <a:rPr lang="en-US" sz="1800" b="1" dirty="0">
                <a:solidFill>
                  <a:srgbClr val="0E1726"/>
                </a:solidFill>
                <a:latin typeface="Arial" pitchFamily="34" charset="0"/>
                <a:ea typeface="Arial" pitchFamily="34" charset="-122"/>
                <a:cs typeface="Arial" pitchFamily="34" charset="-120"/>
              </a:rPr>
              <a:t>Report</a:t>
            </a:r>
            <a:endParaRPr lang="en-US" sz="1800" dirty="0"/>
          </a:p>
        </p:txBody>
      </p:sp>
      <p:sp>
        <p:nvSpPr>
          <p:cNvPr id="30" name="Text 24"/>
          <p:cNvSpPr txBox="1"/>
          <p:nvPr/>
        </p:nvSpPr>
        <p:spPr>
          <a:xfrm>
            <a:off x="6949440" y="2834640"/>
            <a:ext cx="1554480" cy="155448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Risk score, RTO feasibility, SPOFs, gaps and an execution plan as JSON, terminal or HTML.</a:t>
            </a:r>
            <a:endParaRPr lang="en-US" sz="1250" dirty="0"/>
          </a:p>
        </p:txBody>
      </p:sp>
      <p:sp>
        <p:nvSpPr>
          <p:cNvPr id="31" name="Text 25"/>
          <p:cNvSpPr txBox="1"/>
          <p:nvPr/>
        </p:nvSpPr>
        <p:spPr>
          <a:xfrm>
            <a:off x="457200" y="461772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Same service layer behind the CLI, REST API, React dashboard and scheduler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THE READINESS REPORT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0E1726"/>
                </a:solidFill>
                <a:latin typeface="Arial" pitchFamily="34" charset="0"/>
                <a:ea typeface="Arial" pitchFamily="34" charset="-122"/>
                <a:cs typeface="Arial" pitchFamily="34" charset="-120"/>
              </a:rPr>
              <a:t>Deterministic facts first, AI reasoning on top</a:t>
            </a:r>
            <a:endParaRPr lang="en-US" sz="2800" dirty="0"/>
          </a:p>
        </p:txBody>
      </p:sp>
      <p:graphicFrame>
        <p:nvGraphicFramePr>
          <p:cNvPr id="4" name="Chart 0" descr=""/>
          <p:cNvGraphicFramePr/>
          <p:nvPr/>
        </p:nvGraphicFramePr>
        <p:xfrm>
          <a:off x="365760" y="1280160"/>
          <a:ext cx="4206240" cy="2651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023360"/>
            <a:ext cx="4023360" cy="5486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Feasible with a 5 min buffer. Running steps 1 and 2 together in phase 1 brings the plan to 50 min.</a:t>
            </a:r>
            <a:endParaRPr lang="en-US" sz="1200" dirty="0"/>
          </a:p>
        </p:txBody>
      </p:sp>
      <p:sp>
        <p:nvSpPr>
          <p:cNvPr id="6" name="Shape 3"/>
          <p:cNvSpPr/>
          <p:nvPr/>
        </p:nvSpPr>
        <p:spPr>
          <a:xfrm>
            <a:off x="4846320" y="1325880"/>
            <a:ext cx="1874520" cy="3246120"/>
          </a:xfrm>
          <a:prstGeom prst="roundRect">
            <a:avLst>
              <a:gd name="adj" fmla="val 4878"/>
            </a:avLst>
          </a:prstGeom>
          <a:solidFill>
            <a:srgbClr val="F1F5F9"/>
          </a:solidFill>
          <a:ln w="12700">
            <a:solidFill>
              <a:srgbClr val="F1F5F9"/>
            </a:solidFill>
            <a:prstDash val="solid"/>
          </a:ln>
        </p:spPr>
      </p:sp>
      <p:sp>
        <p:nvSpPr>
          <p:cNvPr id="7" name="Text 4"/>
          <p:cNvSpPr txBox="1"/>
          <p:nvPr/>
        </p:nvSpPr>
        <p:spPr>
          <a:xfrm>
            <a:off x="5010912" y="1463040"/>
            <a:ext cx="1554480" cy="45720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Computed in code</a:t>
            </a:r>
            <a:endParaRPr lang="en-US" sz="1400" dirty="0"/>
          </a:p>
        </p:txBody>
      </p:sp>
      <p:sp>
        <p:nvSpPr>
          <p:cNvPr id="8" name="Text 5"/>
          <p:cNvSpPr txBox="1"/>
          <p:nvPr/>
        </p:nvSpPr>
        <p:spPr>
          <a:xfrm>
            <a:off x="4956048" y="1965960"/>
            <a:ext cx="1691640" cy="25146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RTO math and buffer</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Dependency health</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4 rule-checkable gap types</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Execution phases</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0-100 risk score inputs</a:t>
            </a:r>
            <a:endParaRPr lang="en-US" sz="1200" dirty="0"/>
          </a:p>
        </p:txBody>
      </p:sp>
      <p:sp>
        <p:nvSpPr>
          <p:cNvPr id="9" name="Shape 6"/>
          <p:cNvSpPr/>
          <p:nvPr/>
        </p:nvSpPr>
        <p:spPr>
          <a:xfrm>
            <a:off x="6812280" y="1325880"/>
            <a:ext cx="1874520" cy="3246120"/>
          </a:xfrm>
          <a:prstGeom prst="roundRect">
            <a:avLst>
              <a:gd name="adj" fmla="val 4878"/>
            </a:avLst>
          </a:prstGeom>
          <a:solidFill>
            <a:srgbClr val="F1F5F9"/>
          </a:solidFill>
          <a:ln w="12700">
            <a:solidFill>
              <a:srgbClr val="F1F5F9"/>
            </a:solidFill>
            <a:prstDash val="solid"/>
          </a:ln>
        </p:spPr>
      </p:sp>
      <p:sp>
        <p:nvSpPr>
          <p:cNvPr id="10" name="Text 7"/>
          <p:cNvSpPr txBox="1"/>
          <p:nvPr/>
        </p:nvSpPr>
        <p:spPr>
          <a:xfrm>
            <a:off x="6976872" y="1463040"/>
            <a:ext cx="1554480" cy="45720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Added by the LLM</a:t>
            </a:r>
            <a:endParaRPr lang="en-US" sz="1400" dirty="0"/>
          </a:p>
        </p:txBody>
      </p:sp>
      <p:sp>
        <p:nvSpPr>
          <p:cNvPr id="11" name="Text 8"/>
          <p:cNvSpPr txBox="1"/>
          <p:nvPr/>
        </p:nvSpPr>
        <p:spPr>
          <a:xfrm>
            <a:off x="6922008" y="1965960"/>
            <a:ext cx="1691640" cy="25146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Dependency chain reasoning</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Single points of failure</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Further gaps and fixes</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Plain-language summary</a:t>
            </a:r>
            <a:endParaRPr lang="en-US" sz="1200" dirty="0"/>
          </a:p>
          <a:p>
            <a:pPr marL="152400" indent="-1524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Schema-validated or rejected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ACT ON THE PLAN</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Human-authorized runbook execution over MCP</a:t>
            </a:r>
            <a:endParaRPr lang="en-US" sz="2800" dirty="0"/>
          </a:p>
        </p:txBody>
      </p:sp>
      <p:sp>
        <p:nvSpPr>
          <p:cNvPr id="4" name="Shape 2"/>
          <p:cNvSpPr/>
          <p:nvPr/>
        </p:nvSpPr>
        <p:spPr>
          <a:xfrm>
            <a:off x="868680" y="1371600"/>
            <a:ext cx="640080" cy="640080"/>
          </a:xfrm>
          <a:prstGeom prst="roundRect">
            <a:avLst>
              <a:gd name="adj" fmla="val 17143"/>
            </a:avLst>
          </a:prstGeom>
          <a:solidFill>
            <a:srgbClr val="334155"/>
          </a:solidFill>
          <a:ln w="12700">
            <a:solidFill>
              <a:srgbClr val="334155"/>
            </a:solidFill>
            <a:prstDash val="solid"/>
          </a:ln>
        </p:spPr>
      </p:sp>
      <p:pic>
        <p:nvPicPr>
          <p:cNvPr id="5" name="Image 0" descr="preencoded.png">    </p:cNvPr>
          <p:cNvPicPr>
            <a:picLocks noChangeAspect="1"/>
          </p:cNvPicPr>
          <p:nvPr/>
        </p:nvPicPr>
        <p:blipFill>
          <a:blip r:embed="rId1"/>
          <a:stretch>
            <a:fillRect/>
          </a:stretch>
        </p:blipFill>
        <p:spPr>
          <a:xfrm>
            <a:off x="1035101" y="1538021"/>
            <a:ext cx="307238" cy="307238"/>
          </a:xfrm>
          <a:prstGeom prst="rect">
            <a:avLst/>
          </a:prstGeom>
        </p:spPr>
      </p:pic>
      <p:sp>
        <p:nvSpPr>
          <p:cNvPr id="6" name="Text 3"/>
          <p:cNvSpPr txBox="1"/>
          <p:nvPr/>
        </p:nvSpPr>
        <p:spPr>
          <a:xfrm>
            <a:off x="457200"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Plan</a:t>
            </a:r>
            <a:endParaRPr lang="en-US" sz="1500" dirty="0"/>
          </a:p>
        </p:txBody>
      </p:sp>
      <p:sp>
        <p:nvSpPr>
          <p:cNvPr id="7" name="Text 4"/>
          <p:cNvSpPr txBox="1"/>
          <p:nvPr/>
        </p:nvSpPr>
        <p:spPr>
          <a:xfrm>
            <a:off x="457200"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Tool: annotations or AI-proposed calls, reviewed</a:t>
            </a:r>
            <a:endParaRPr lang="en-US" sz="1100" dirty="0"/>
          </a:p>
        </p:txBody>
      </p:sp>
      <p:sp>
        <p:nvSpPr>
          <p:cNvPr id="8" name="Shape 5"/>
          <p:cNvSpPr/>
          <p:nvPr/>
        </p:nvSpPr>
        <p:spPr>
          <a:xfrm>
            <a:off x="1645920" y="1691640"/>
            <a:ext cx="640080" cy="0"/>
          </a:xfrm>
          <a:prstGeom prst="line">
            <a:avLst/>
          </a:prstGeom>
          <a:noFill/>
          <a:ln w="19050">
            <a:solidFill>
              <a:srgbClr val="475569"/>
            </a:solidFill>
            <a:prstDash val="solid"/>
            <a:tailEnd type="triangle"/>
          </a:ln>
        </p:spPr>
      </p:sp>
      <p:sp>
        <p:nvSpPr>
          <p:cNvPr id="9" name="Shape 6"/>
          <p:cNvSpPr/>
          <p:nvPr/>
        </p:nvSpPr>
        <p:spPr>
          <a:xfrm>
            <a:off x="2551176" y="1371600"/>
            <a:ext cx="640080" cy="640080"/>
          </a:xfrm>
          <a:prstGeom prst="roundRect">
            <a:avLst>
              <a:gd name="adj" fmla="val 17143"/>
            </a:avLst>
          </a:prstGeom>
          <a:solidFill>
            <a:srgbClr val="F5A524"/>
          </a:solidFill>
          <a:ln w="12700">
            <a:solidFill>
              <a:srgbClr val="F5A524"/>
            </a:solidFill>
            <a:prstDash val="solid"/>
          </a:ln>
        </p:spPr>
      </p:sp>
      <p:pic>
        <p:nvPicPr>
          <p:cNvPr id="10" name="Image 1" descr="preencoded.png">    </p:cNvPr>
          <p:cNvPicPr>
            <a:picLocks noChangeAspect="1"/>
          </p:cNvPicPr>
          <p:nvPr/>
        </p:nvPicPr>
        <p:blipFill>
          <a:blip r:embed="rId2"/>
          <a:stretch>
            <a:fillRect/>
          </a:stretch>
        </p:blipFill>
        <p:spPr>
          <a:xfrm>
            <a:off x="2717597" y="1538021"/>
            <a:ext cx="307238" cy="307238"/>
          </a:xfrm>
          <a:prstGeom prst="rect">
            <a:avLst/>
          </a:prstGeom>
        </p:spPr>
      </p:pic>
      <p:sp>
        <p:nvSpPr>
          <p:cNvPr id="11" name="Text 7"/>
          <p:cNvSpPr txBox="1"/>
          <p:nvPr/>
        </p:nvSpPr>
        <p:spPr>
          <a:xfrm>
            <a:off x="2139696"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Approve</a:t>
            </a:r>
            <a:endParaRPr lang="en-US" sz="1500" dirty="0"/>
          </a:p>
        </p:txBody>
      </p:sp>
      <p:sp>
        <p:nvSpPr>
          <p:cNvPr id="12" name="Text 8"/>
          <p:cNvSpPr txBox="1"/>
          <p:nvPr/>
        </p:nvSpPr>
        <p:spPr>
          <a:xfrm>
            <a:off x="2139696"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Named approvers; two people for destructive calls</a:t>
            </a:r>
            <a:endParaRPr lang="en-US" sz="1100" dirty="0"/>
          </a:p>
        </p:txBody>
      </p:sp>
      <p:sp>
        <p:nvSpPr>
          <p:cNvPr id="13" name="Shape 9"/>
          <p:cNvSpPr/>
          <p:nvPr/>
        </p:nvSpPr>
        <p:spPr>
          <a:xfrm>
            <a:off x="3328416" y="1691640"/>
            <a:ext cx="640080" cy="0"/>
          </a:xfrm>
          <a:prstGeom prst="line">
            <a:avLst/>
          </a:prstGeom>
          <a:noFill/>
          <a:ln w="19050">
            <a:solidFill>
              <a:srgbClr val="475569"/>
            </a:solidFill>
            <a:prstDash val="solid"/>
            <a:tailEnd type="triangle"/>
          </a:ln>
        </p:spPr>
      </p:sp>
      <p:sp>
        <p:nvSpPr>
          <p:cNvPr id="14" name="Shape 10"/>
          <p:cNvSpPr/>
          <p:nvPr/>
        </p:nvSpPr>
        <p:spPr>
          <a:xfrm>
            <a:off x="4233672" y="1371600"/>
            <a:ext cx="640080" cy="640080"/>
          </a:xfrm>
          <a:prstGeom prst="roundRect">
            <a:avLst>
              <a:gd name="adj" fmla="val 17143"/>
            </a:avLst>
          </a:prstGeom>
          <a:solidFill>
            <a:srgbClr val="14B8A6"/>
          </a:solidFill>
          <a:ln w="12700">
            <a:solidFill>
              <a:srgbClr val="14B8A6"/>
            </a:solidFill>
            <a:prstDash val="solid"/>
          </a:ln>
        </p:spPr>
      </p:sp>
      <p:pic>
        <p:nvPicPr>
          <p:cNvPr id="15" name="Image 2" descr="preencoded.png">    </p:cNvPr>
          <p:cNvPicPr>
            <a:picLocks noChangeAspect="1"/>
          </p:cNvPicPr>
          <p:nvPr/>
        </p:nvPicPr>
        <p:blipFill>
          <a:blip r:embed="rId3"/>
          <a:stretch>
            <a:fillRect/>
          </a:stretch>
        </p:blipFill>
        <p:spPr>
          <a:xfrm>
            <a:off x="4400093" y="1538021"/>
            <a:ext cx="307238" cy="307238"/>
          </a:xfrm>
          <a:prstGeom prst="rect">
            <a:avLst/>
          </a:prstGeom>
        </p:spPr>
      </p:pic>
      <p:sp>
        <p:nvSpPr>
          <p:cNvPr id="16" name="Text 11"/>
          <p:cNvSpPr txBox="1"/>
          <p:nvPr/>
        </p:nvSpPr>
        <p:spPr>
          <a:xfrm>
            <a:off x="3822192"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Execute</a:t>
            </a:r>
            <a:endParaRPr lang="en-US" sz="1500" dirty="0"/>
          </a:p>
        </p:txBody>
      </p:sp>
      <p:sp>
        <p:nvSpPr>
          <p:cNvPr id="17" name="Text 12"/>
          <p:cNvSpPr txBox="1"/>
          <p:nvPr/>
        </p:nvSpPr>
        <p:spPr>
          <a:xfrm>
            <a:off x="3822192"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One MCP tool call at a time, policy-checked</a:t>
            </a:r>
            <a:endParaRPr lang="en-US" sz="1100" dirty="0"/>
          </a:p>
        </p:txBody>
      </p:sp>
      <p:sp>
        <p:nvSpPr>
          <p:cNvPr id="18" name="Shape 13"/>
          <p:cNvSpPr/>
          <p:nvPr/>
        </p:nvSpPr>
        <p:spPr>
          <a:xfrm>
            <a:off x="5010912" y="1691640"/>
            <a:ext cx="640080" cy="0"/>
          </a:xfrm>
          <a:prstGeom prst="line">
            <a:avLst/>
          </a:prstGeom>
          <a:noFill/>
          <a:ln w="19050">
            <a:solidFill>
              <a:srgbClr val="475569"/>
            </a:solidFill>
            <a:prstDash val="solid"/>
            <a:tailEnd type="triangle"/>
          </a:ln>
        </p:spPr>
      </p:sp>
      <p:sp>
        <p:nvSpPr>
          <p:cNvPr id="19" name="Shape 14"/>
          <p:cNvSpPr/>
          <p:nvPr/>
        </p:nvSpPr>
        <p:spPr>
          <a:xfrm>
            <a:off x="5916168" y="1371600"/>
            <a:ext cx="640080" cy="640080"/>
          </a:xfrm>
          <a:prstGeom prst="roundRect">
            <a:avLst>
              <a:gd name="adj" fmla="val 17143"/>
            </a:avLst>
          </a:prstGeom>
          <a:solidFill>
            <a:srgbClr val="14B8A6"/>
          </a:solidFill>
          <a:ln w="12700">
            <a:solidFill>
              <a:srgbClr val="14B8A6"/>
            </a:solidFill>
            <a:prstDash val="solid"/>
          </a:ln>
        </p:spPr>
      </p:sp>
      <p:pic>
        <p:nvPicPr>
          <p:cNvPr id="20" name="Image 3" descr="preencoded.png">    </p:cNvPr>
          <p:cNvPicPr>
            <a:picLocks noChangeAspect="1"/>
          </p:cNvPicPr>
          <p:nvPr/>
        </p:nvPicPr>
        <p:blipFill>
          <a:blip r:embed="rId4"/>
          <a:stretch>
            <a:fillRect/>
          </a:stretch>
        </p:blipFill>
        <p:spPr>
          <a:xfrm>
            <a:off x="6082589" y="1538021"/>
            <a:ext cx="307238" cy="307238"/>
          </a:xfrm>
          <a:prstGeom prst="rect">
            <a:avLst/>
          </a:prstGeom>
        </p:spPr>
      </p:pic>
      <p:sp>
        <p:nvSpPr>
          <p:cNvPr id="21" name="Text 15"/>
          <p:cNvSpPr txBox="1"/>
          <p:nvPr/>
        </p:nvSpPr>
        <p:spPr>
          <a:xfrm>
            <a:off x="5504688"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Verify</a:t>
            </a:r>
            <a:endParaRPr lang="en-US" sz="1500" dirty="0"/>
          </a:p>
        </p:txBody>
      </p:sp>
      <p:sp>
        <p:nvSpPr>
          <p:cNvPr id="22" name="Text 16"/>
          <p:cNvSpPr txBox="1"/>
          <p:nvPr/>
        </p:nvSpPr>
        <p:spPr>
          <a:xfrm>
            <a:off x="5504688"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Verify-Tool confirms the step worked</a:t>
            </a:r>
            <a:endParaRPr lang="en-US" sz="1100" dirty="0"/>
          </a:p>
        </p:txBody>
      </p:sp>
      <p:sp>
        <p:nvSpPr>
          <p:cNvPr id="23" name="Shape 17"/>
          <p:cNvSpPr/>
          <p:nvPr/>
        </p:nvSpPr>
        <p:spPr>
          <a:xfrm>
            <a:off x="6693408" y="1691640"/>
            <a:ext cx="640080" cy="0"/>
          </a:xfrm>
          <a:prstGeom prst="line">
            <a:avLst/>
          </a:prstGeom>
          <a:noFill/>
          <a:ln w="19050">
            <a:solidFill>
              <a:srgbClr val="475569"/>
            </a:solidFill>
            <a:prstDash val="solid"/>
            <a:tailEnd type="triangle"/>
          </a:ln>
        </p:spPr>
      </p:sp>
      <p:sp>
        <p:nvSpPr>
          <p:cNvPr id="24" name="Shape 18"/>
          <p:cNvSpPr/>
          <p:nvPr/>
        </p:nvSpPr>
        <p:spPr>
          <a:xfrm>
            <a:off x="7598664" y="1371600"/>
            <a:ext cx="640080" cy="640080"/>
          </a:xfrm>
          <a:prstGeom prst="roundRect">
            <a:avLst>
              <a:gd name="adj" fmla="val 17143"/>
            </a:avLst>
          </a:prstGeom>
          <a:solidFill>
            <a:srgbClr val="E5484D"/>
          </a:solidFill>
          <a:ln w="12700">
            <a:solidFill>
              <a:srgbClr val="E5484D"/>
            </a:solidFill>
            <a:prstDash val="solid"/>
          </a:ln>
        </p:spPr>
      </p:sp>
      <p:pic>
        <p:nvPicPr>
          <p:cNvPr id="25" name="Image 4" descr="preencoded.png">    </p:cNvPr>
          <p:cNvPicPr>
            <a:picLocks noChangeAspect="1"/>
          </p:cNvPicPr>
          <p:nvPr/>
        </p:nvPicPr>
        <p:blipFill>
          <a:blip r:embed="rId5"/>
          <a:stretch>
            <a:fillRect/>
          </a:stretch>
        </p:blipFill>
        <p:spPr>
          <a:xfrm>
            <a:off x="7765085" y="1538021"/>
            <a:ext cx="307238" cy="307238"/>
          </a:xfrm>
          <a:prstGeom prst="rect">
            <a:avLst/>
          </a:prstGeom>
        </p:spPr>
      </p:pic>
      <p:sp>
        <p:nvSpPr>
          <p:cNvPr id="26" name="Text 19"/>
          <p:cNvSpPr txBox="1"/>
          <p:nvPr/>
        </p:nvSpPr>
        <p:spPr>
          <a:xfrm>
            <a:off x="7187184"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Rollback</a:t>
            </a:r>
            <a:endParaRPr lang="en-US" sz="1500" dirty="0"/>
          </a:p>
        </p:txBody>
      </p:sp>
      <p:sp>
        <p:nvSpPr>
          <p:cNvPr id="27" name="Text 20"/>
          <p:cNvSpPr txBox="1"/>
          <p:nvPr/>
        </p:nvSpPr>
        <p:spPr>
          <a:xfrm>
            <a:off x="7187184"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Rollback-Tool, abort, retry or skip</a:t>
            </a:r>
            <a:endParaRPr lang="en-US" sz="1100" dirty="0"/>
          </a:p>
        </p:txBody>
      </p:sp>
      <p:sp>
        <p:nvSpPr>
          <p:cNvPr id="28" name="Text 21"/>
          <p:cNvSpPr txBox="1"/>
          <p:nvPr/>
        </p:nvSpPr>
        <p:spPr>
          <a:xfrm>
            <a:off x="457200" y="3337560"/>
            <a:ext cx="3657600" cy="274320"/>
          </a:xfrm>
          <a:prstGeom prst="rect">
            <a:avLst/>
          </a:prstGeom>
          <a:noFill/>
          <a:ln/>
        </p:spPr>
        <p:txBody>
          <a:bodyPr wrap="square" lIns="0" tIns="0" rIns="0" bIns="0" rtlCol="0" anchor="ctr"/>
          <a:lstStyle/>
          <a:p>
            <a:pPr indent="0" marL="0">
              <a:buNone/>
            </a:pPr>
            <a:r>
              <a:rPr lang="en-US" sz="1200" b="1" dirty="0">
                <a:solidFill>
                  <a:srgbClr val="F5A524"/>
                </a:solidFill>
                <a:latin typeface="Arial" pitchFamily="34" charset="0"/>
                <a:ea typeface="Arial" pitchFamily="34" charset="-122"/>
                <a:cs typeface="Arial" pitchFamily="34" charset="-120"/>
              </a:rPr>
              <a:t>Risk classes in the policy file</a:t>
            </a:r>
            <a:endParaRPr lang="en-US" sz="1200" dirty="0"/>
          </a:p>
        </p:txBody>
      </p:sp>
      <p:sp>
        <p:nvSpPr>
          <p:cNvPr id="29" name="Shape 22"/>
          <p:cNvSpPr/>
          <p:nvPr/>
        </p:nvSpPr>
        <p:spPr>
          <a:xfrm>
            <a:off x="457200" y="3675888"/>
            <a:ext cx="1188720" cy="274320"/>
          </a:xfrm>
          <a:prstGeom prst="roundRect">
            <a:avLst>
              <a:gd name="adj" fmla="val 26667"/>
            </a:avLst>
          </a:prstGeom>
          <a:solidFill>
            <a:srgbClr val="14B8A6"/>
          </a:solidFill>
          <a:ln w="12700">
            <a:solidFill>
              <a:srgbClr val="14B8A6"/>
            </a:solidFill>
            <a:prstDash val="solid"/>
          </a:ln>
        </p:spPr>
      </p:sp>
      <p:sp>
        <p:nvSpPr>
          <p:cNvPr id="30" name="Text 23"/>
          <p:cNvSpPr txBox="1"/>
          <p:nvPr/>
        </p:nvSpPr>
        <p:spPr>
          <a:xfrm>
            <a:off x="457200" y="367588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read</a:t>
            </a:r>
            <a:endParaRPr lang="en-US" sz="1100" dirty="0"/>
          </a:p>
        </p:txBody>
      </p:sp>
      <p:sp>
        <p:nvSpPr>
          <p:cNvPr id="31" name="Text 24"/>
          <p:cNvSpPr txBox="1"/>
          <p:nvPr/>
        </p:nvSpPr>
        <p:spPr>
          <a:xfrm>
            <a:off x="1783080" y="367588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status, ping, smoke test</a:t>
            </a:r>
            <a:endParaRPr lang="en-US" sz="1200" dirty="0"/>
          </a:p>
        </p:txBody>
      </p:sp>
      <p:sp>
        <p:nvSpPr>
          <p:cNvPr id="32" name="Shape 25"/>
          <p:cNvSpPr/>
          <p:nvPr/>
        </p:nvSpPr>
        <p:spPr>
          <a:xfrm>
            <a:off x="457200" y="4041648"/>
            <a:ext cx="1188720" cy="274320"/>
          </a:xfrm>
          <a:prstGeom prst="roundRect">
            <a:avLst>
              <a:gd name="adj" fmla="val 26667"/>
            </a:avLst>
          </a:prstGeom>
          <a:solidFill>
            <a:srgbClr val="F5A524"/>
          </a:solidFill>
          <a:ln w="12700">
            <a:solidFill>
              <a:srgbClr val="F5A524"/>
            </a:solidFill>
            <a:prstDash val="solid"/>
          </a:ln>
        </p:spPr>
      </p:sp>
      <p:sp>
        <p:nvSpPr>
          <p:cNvPr id="33" name="Text 26"/>
          <p:cNvSpPr txBox="1"/>
          <p:nvPr/>
        </p:nvSpPr>
        <p:spPr>
          <a:xfrm>
            <a:off x="457200" y="404164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write</a:t>
            </a:r>
            <a:endParaRPr lang="en-US" sz="1100" dirty="0"/>
          </a:p>
        </p:txBody>
      </p:sp>
      <p:sp>
        <p:nvSpPr>
          <p:cNvPr id="34" name="Text 27"/>
          <p:cNvSpPr txBox="1"/>
          <p:nvPr/>
        </p:nvSpPr>
        <p:spPr>
          <a:xfrm>
            <a:off x="1783080" y="404164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restart, cache warm</a:t>
            </a:r>
            <a:endParaRPr lang="en-US" sz="1200" dirty="0"/>
          </a:p>
        </p:txBody>
      </p:sp>
      <p:sp>
        <p:nvSpPr>
          <p:cNvPr id="35" name="Shape 28"/>
          <p:cNvSpPr/>
          <p:nvPr/>
        </p:nvSpPr>
        <p:spPr>
          <a:xfrm>
            <a:off x="457200" y="4407408"/>
            <a:ext cx="1188720" cy="274320"/>
          </a:xfrm>
          <a:prstGeom prst="roundRect">
            <a:avLst>
              <a:gd name="adj" fmla="val 26667"/>
            </a:avLst>
          </a:prstGeom>
          <a:solidFill>
            <a:srgbClr val="E5484D"/>
          </a:solidFill>
          <a:ln w="12700">
            <a:solidFill>
              <a:srgbClr val="E5484D"/>
            </a:solidFill>
            <a:prstDash val="solid"/>
          </a:ln>
        </p:spPr>
      </p:sp>
      <p:sp>
        <p:nvSpPr>
          <p:cNvPr id="36" name="Text 29"/>
          <p:cNvSpPr txBox="1"/>
          <p:nvPr/>
        </p:nvSpPr>
        <p:spPr>
          <a:xfrm>
            <a:off x="457200" y="440740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destructive</a:t>
            </a:r>
            <a:endParaRPr lang="en-US" sz="1100" dirty="0"/>
          </a:p>
        </p:txBody>
      </p:sp>
      <p:sp>
        <p:nvSpPr>
          <p:cNvPr id="37" name="Text 30"/>
          <p:cNvSpPr txBox="1"/>
          <p:nvPr/>
        </p:nvSpPr>
        <p:spPr>
          <a:xfrm>
            <a:off x="1783080" y="440740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promote DB, switch DNS</a:t>
            </a:r>
            <a:endParaRPr lang="en-US" sz="1200" dirty="0"/>
          </a:p>
        </p:txBody>
      </p:sp>
      <p:sp>
        <p:nvSpPr>
          <p:cNvPr id="38" name="Shape 31"/>
          <p:cNvSpPr/>
          <p:nvPr/>
        </p:nvSpPr>
        <p:spPr>
          <a:xfrm>
            <a:off x="4754880" y="3337560"/>
            <a:ext cx="3931920" cy="1143000"/>
          </a:xfrm>
          <a:prstGeom prst="roundRect">
            <a:avLst>
              <a:gd name="adj" fmla="val 8000"/>
            </a:avLst>
          </a:prstGeom>
          <a:solidFill>
            <a:srgbClr val="1B2A41"/>
          </a:solidFill>
          <a:ln w="12700">
            <a:solidFill>
              <a:srgbClr val="1B2A41"/>
            </a:solidFill>
            <a:prstDash val="solid"/>
          </a:ln>
        </p:spPr>
      </p:sp>
      <p:sp>
        <p:nvSpPr>
          <p:cNvPr id="39" name="Text 32"/>
          <p:cNvSpPr txBox="1"/>
          <p:nvPr/>
        </p:nvSpPr>
        <p:spPr>
          <a:xfrm>
            <a:off x="4937760" y="3474720"/>
            <a:ext cx="3657600" cy="960120"/>
          </a:xfrm>
          <a:prstGeom prst="rect">
            <a:avLst/>
          </a:prstGeom>
          <a:noFill/>
          <a:ln/>
        </p:spPr>
        <p:txBody>
          <a:bodyPr wrap="square" lIns="0" tIns="0" rIns="0" bIns="0" rtlCol="0" anchor="t"/>
          <a:lstStyle/>
          <a:p>
            <a:pPr indent="0" marL="0">
              <a:spcAft>
                <a:spcPts val="300"/>
              </a:spcAft>
              <a:buNone/>
            </a:pPr>
            <a:r>
              <a:rPr lang="en-US" sz="1200" b="1" dirty="0">
                <a:solidFill>
                  <a:srgbClr val="F5A524"/>
                </a:solidFill>
                <a:latin typeface="Calibri" pitchFamily="34" charset="0"/>
                <a:ea typeface="Calibri" pitchFamily="34" charset="-122"/>
                <a:cs typeface="Calibri" pitchFamily="34" charset="-120"/>
              </a:rPr>
              <a:t>Safety built in</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Off by default, dry run before live</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Allow-list + JSON Schema checks on every call</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Tamper-evident audit log, restart recovery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HISTORY AND KNOWLEDGE BASE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0E1726"/>
                </a:solidFill>
                <a:latin typeface="Arial" pitchFamily="34" charset="0"/>
                <a:ea typeface="Arial" pitchFamily="34" charset="-122"/>
                <a:cs typeface="Arial" pitchFamily="34" charset="-120"/>
              </a:rPr>
              <a:t>Every run makes the next analysis smarter</a:t>
            </a:r>
            <a:endParaRPr lang="en-US" sz="2800" dirty="0"/>
          </a:p>
        </p:txBody>
      </p:sp>
      <p:sp>
        <p:nvSpPr>
          <p:cNvPr id="4" name="Shape 2"/>
          <p:cNvSpPr/>
          <p:nvPr/>
        </p:nvSpPr>
        <p:spPr>
          <a:xfrm>
            <a:off x="457200" y="1325880"/>
            <a:ext cx="566928" cy="566928"/>
          </a:xfrm>
          <a:prstGeom prst="roundRect">
            <a:avLst>
              <a:gd name="adj" fmla="val 19355"/>
            </a:avLst>
          </a:prstGeom>
          <a:solidFill>
            <a:srgbClr val="0E1726"/>
          </a:solidFill>
          <a:ln w="12700">
            <a:solidFill>
              <a:srgbClr val="0E1726"/>
            </a:solidFill>
            <a:prstDash val="solid"/>
          </a:ln>
        </p:spPr>
      </p:sp>
      <p:pic>
        <p:nvPicPr>
          <p:cNvPr id="5" name="Image 0" descr="preencoded.png">    </p:cNvPr>
          <p:cNvPicPr>
            <a:picLocks noChangeAspect="1"/>
          </p:cNvPicPr>
          <p:nvPr/>
        </p:nvPicPr>
        <p:blipFill>
          <a:blip r:embed="rId1"/>
          <a:stretch>
            <a:fillRect/>
          </a:stretch>
        </p:blipFill>
        <p:spPr>
          <a:xfrm>
            <a:off x="604601" y="1473281"/>
            <a:ext cx="272125" cy="272125"/>
          </a:xfrm>
          <a:prstGeom prst="rect">
            <a:avLst/>
          </a:prstGeom>
        </p:spPr>
      </p:pic>
      <p:sp>
        <p:nvSpPr>
          <p:cNvPr id="6" name="Text 3"/>
          <p:cNvSpPr txBox="1"/>
          <p:nvPr/>
        </p:nvSpPr>
        <p:spPr>
          <a:xfrm>
            <a:off x="1188720" y="1307592"/>
            <a:ext cx="3291840" cy="292608"/>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Stored history</a:t>
            </a:r>
            <a:endParaRPr lang="en-US" sz="1400" dirty="0"/>
          </a:p>
        </p:txBody>
      </p:sp>
      <p:sp>
        <p:nvSpPr>
          <p:cNvPr id="7" name="Text 4"/>
          <p:cNvSpPr txBox="1"/>
          <p:nvPr/>
        </p:nvSpPr>
        <p:spPr>
          <a:xfrm>
            <a:off x="1188720" y="1600200"/>
            <a:ext cx="3291840" cy="68580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Every analysis is saved with its runbook, inventory and linked executions. Reopen, export or execute again after a restart.</a:t>
            </a:r>
            <a:endParaRPr lang="en-US" sz="1200" dirty="0"/>
          </a:p>
        </p:txBody>
      </p:sp>
      <p:sp>
        <p:nvSpPr>
          <p:cNvPr id="8" name="Shape 5"/>
          <p:cNvSpPr/>
          <p:nvPr/>
        </p:nvSpPr>
        <p:spPr>
          <a:xfrm>
            <a:off x="457200" y="2441448"/>
            <a:ext cx="566928" cy="566928"/>
          </a:xfrm>
          <a:prstGeom prst="roundRect">
            <a:avLst>
              <a:gd name="adj" fmla="val 19355"/>
            </a:avLst>
          </a:prstGeom>
          <a:solidFill>
            <a:srgbClr val="14B8A6"/>
          </a:solidFill>
          <a:ln w="12700">
            <a:solidFill>
              <a:srgbClr val="14B8A6"/>
            </a:solidFill>
            <a:prstDash val="solid"/>
          </a:ln>
        </p:spPr>
      </p:sp>
      <p:pic>
        <p:nvPicPr>
          <p:cNvPr id="9" name="Image 1" descr="preencoded.png">    </p:cNvPr>
          <p:cNvPicPr>
            <a:picLocks noChangeAspect="1"/>
          </p:cNvPicPr>
          <p:nvPr/>
        </p:nvPicPr>
        <p:blipFill>
          <a:blip r:embed="rId2"/>
          <a:stretch>
            <a:fillRect/>
          </a:stretch>
        </p:blipFill>
        <p:spPr>
          <a:xfrm>
            <a:off x="604601" y="2588849"/>
            <a:ext cx="272125" cy="272125"/>
          </a:xfrm>
          <a:prstGeom prst="rect">
            <a:avLst/>
          </a:prstGeom>
        </p:spPr>
      </p:pic>
      <p:sp>
        <p:nvSpPr>
          <p:cNvPr id="10" name="Text 6"/>
          <p:cNvSpPr txBox="1"/>
          <p:nvPr/>
        </p:nvSpPr>
        <p:spPr>
          <a:xfrm>
            <a:off x="1188720" y="2423160"/>
            <a:ext cx="3291840" cy="292608"/>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Measured facts</a:t>
            </a:r>
            <a:endParaRPr lang="en-US" sz="1400" dirty="0"/>
          </a:p>
        </p:txBody>
      </p:sp>
      <p:sp>
        <p:nvSpPr>
          <p:cNvPr id="11" name="Text 7"/>
          <p:cNvSpPr txBox="1"/>
          <p:nvPr/>
        </p:nvSpPr>
        <p:spPr>
          <a:xfrm>
            <a:off x="1188720" y="2715768"/>
            <a:ext cx="3291840" cy="68580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Step outcomes and times, end-to-end time vs RTO, dependencies that keep failing.</a:t>
            </a:r>
            <a:endParaRPr lang="en-US" sz="1200" dirty="0"/>
          </a:p>
        </p:txBody>
      </p:sp>
      <p:sp>
        <p:nvSpPr>
          <p:cNvPr id="12" name="Shape 8"/>
          <p:cNvSpPr/>
          <p:nvPr/>
        </p:nvSpPr>
        <p:spPr>
          <a:xfrm>
            <a:off x="457200" y="3557016"/>
            <a:ext cx="566928" cy="566928"/>
          </a:xfrm>
          <a:prstGeom prst="roundRect">
            <a:avLst>
              <a:gd name="adj" fmla="val 19355"/>
            </a:avLst>
          </a:prstGeom>
          <a:solidFill>
            <a:srgbClr val="E5484D"/>
          </a:solidFill>
          <a:ln w="12700">
            <a:solidFill>
              <a:srgbClr val="E5484D"/>
            </a:solidFill>
            <a:prstDash val="solid"/>
          </a:ln>
        </p:spPr>
      </p:sp>
      <p:pic>
        <p:nvPicPr>
          <p:cNvPr id="13" name="Image 2" descr="preencoded.png">    </p:cNvPr>
          <p:cNvPicPr>
            <a:picLocks noChangeAspect="1"/>
          </p:cNvPicPr>
          <p:nvPr/>
        </p:nvPicPr>
        <p:blipFill>
          <a:blip r:embed="rId3"/>
          <a:stretch>
            <a:fillRect/>
          </a:stretch>
        </p:blipFill>
        <p:spPr>
          <a:xfrm>
            <a:off x="604601" y="3704417"/>
            <a:ext cx="272125" cy="272125"/>
          </a:xfrm>
          <a:prstGeom prst="rect">
            <a:avLst/>
          </a:prstGeom>
        </p:spPr>
      </p:pic>
      <p:sp>
        <p:nvSpPr>
          <p:cNvPr id="14" name="Text 9"/>
          <p:cNvSpPr txBox="1"/>
          <p:nvPr/>
        </p:nvSpPr>
        <p:spPr>
          <a:xfrm>
            <a:off x="1188720" y="3538728"/>
            <a:ext cx="3291840" cy="292608"/>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Safe by design</a:t>
            </a:r>
            <a:endParaRPr lang="en-US" sz="1400" dirty="0"/>
          </a:p>
        </p:txBody>
      </p:sp>
      <p:sp>
        <p:nvSpPr>
          <p:cNvPr id="15" name="Text 10"/>
          <p:cNvSpPr txBox="1"/>
          <p:nvPr/>
        </p:nvSpPr>
        <p:spPr>
          <a:xfrm>
            <a:off x="1188720" y="3831336"/>
            <a:ext cx="3291840" cy="68580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Only code-computed numbers and names reach the prompt, through a strict allow-list. Never free text.</a:t>
            </a:r>
            <a:endParaRPr lang="en-US" sz="1200" dirty="0"/>
          </a:p>
        </p:txBody>
      </p:sp>
      <p:sp>
        <p:nvSpPr>
          <p:cNvPr id="16" name="Shape 11"/>
          <p:cNvSpPr/>
          <p:nvPr/>
        </p:nvSpPr>
        <p:spPr>
          <a:xfrm>
            <a:off x="4846320" y="1325880"/>
            <a:ext cx="3840480" cy="3246120"/>
          </a:xfrm>
          <a:prstGeom prst="roundRect">
            <a:avLst>
              <a:gd name="adj" fmla="val 3380"/>
            </a:avLst>
          </a:prstGeom>
          <a:solidFill>
            <a:srgbClr val="0E1726"/>
          </a:solidFill>
          <a:ln w="12700">
            <a:solidFill>
              <a:srgbClr val="0E1726"/>
            </a:solidFill>
            <a:prstDash val="solid"/>
          </a:ln>
          <a:effectLst>
            <a:outerShdw sx="100000" sy="100000" kx="0" ky="0" algn="bl" rotWithShape="0" blurRad="76200" dist="25400" dir="5400000">
              <a:srgbClr val="000000">
                <a:alpha val="12000"/>
              </a:srgbClr>
            </a:outerShdw>
          </a:effectLst>
        </p:spPr>
      </p:sp>
      <p:sp>
        <p:nvSpPr>
          <p:cNvPr id="17" name="Text 12"/>
          <p:cNvSpPr txBox="1"/>
          <p:nvPr/>
        </p:nvSpPr>
        <p:spPr>
          <a:xfrm>
            <a:off x="5120640" y="1554480"/>
            <a:ext cx="3291840" cy="274320"/>
          </a:xfrm>
          <a:prstGeom prst="rect">
            <a:avLst/>
          </a:prstGeom>
          <a:noFill/>
          <a:ln/>
        </p:spPr>
        <p:txBody>
          <a:bodyPr wrap="square" lIns="0" tIns="0" rIns="0" bIns="0" rtlCol="0" anchor="ctr"/>
          <a:lstStyle/>
          <a:p>
            <a:pPr indent="0" marL="0">
              <a:buNone/>
            </a:pPr>
            <a:r>
              <a:rPr lang="en-US" sz="1100" b="1" spc="200" kern="0" dirty="0">
                <a:solidFill>
                  <a:srgbClr val="F5A524"/>
                </a:solidFill>
                <a:latin typeface="Arial" pitchFamily="34" charset="0"/>
                <a:ea typeface="Arial" pitchFamily="34" charset="-122"/>
                <a:cs typeface="Arial" pitchFamily="34" charset="-120"/>
              </a:rPr>
              <a:t>HISTORICAL GAP</a:t>
            </a:r>
            <a:endParaRPr lang="en-US" sz="1100" dirty="0"/>
          </a:p>
        </p:txBody>
      </p:sp>
      <p:sp>
        <p:nvSpPr>
          <p:cNvPr id="18" name="Text 13"/>
          <p:cNvSpPr txBox="1"/>
          <p:nvPr/>
        </p:nvSpPr>
        <p:spPr>
          <a:xfrm>
            <a:off x="5120640" y="1920240"/>
            <a:ext cx="3291840" cy="1188720"/>
          </a:xfrm>
          <a:prstGeom prst="rect">
            <a:avLst/>
          </a:prstGeom>
          <a:noFill/>
          <a:ln/>
        </p:spPr>
        <p:txBody>
          <a:bodyPr wrap="square" lIns="0" tIns="0" rIns="0" bIns="0" rtlCol="0" anchor="t"/>
          <a:lstStyle/>
          <a:p>
            <a:pPr indent="0" marL="0">
              <a:buNone/>
            </a:pPr>
            <a:r>
              <a:rPr lang="en-US" sz="2000" i="1" dirty="0">
                <a:solidFill>
                  <a:srgbClr val="FFFFFF"/>
                </a:solidFill>
                <a:latin typeface="Cambria" pitchFamily="34" charset="0"/>
                <a:ea typeface="Cambria" pitchFamily="34" charset="-122"/>
                <a:cs typeface="Cambria" pitchFamily="34" charset="-120"/>
              </a:rPr>
              <a:t>“Step 5 failed or was rolled back in 2 of 2 past live runs.”</a:t>
            </a:r>
            <a:endParaRPr lang="en-US" sz="2000" dirty="0"/>
          </a:p>
        </p:txBody>
      </p:sp>
      <p:sp>
        <p:nvSpPr>
          <p:cNvPr id="19" name="Text 14"/>
          <p:cNvSpPr txBox="1"/>
          <p:nvPr/>
        </p:nvSpPr>
        <p:spPr>
          <a:xfrm>
            <a:off x="5120640" y="2971800"/>
            <a:ext cx="1645920" cy="640080"/>
          </a:xfrm>
          <a:prstGeom prst="rect">
            <a:avLst/>
          </a:prstGeom>
          <a:noFill/>
          <a:ln/>
        </p:spPr>
        <p:txBody>
          <a:bodyPr wrap="square" lIns="0" tIns="0" rIns="0" bIns="0" rtlCol="0" anchor="ctr"/>
          <a:lstStyle/>
          <a:p>
            <a:pPr indent="0" marL="0">
              <a:buNone/>
            </a:pPr>
            <a:r>
              <a:rPr lang="en-US" sz="3600" b="1" dirty="0">
                <a:solidFill>
                  <a:srgbClr val="E5484D"/>
                </a:solidFill>
                <a:latin typeface="Arial" pitchFamily="34" charset="0"/>
                <a:ea typeface="Arial" pitchFamily="34" charset="-122"/>
                <a:cs typeface="Arial" pitchFamily="34" charset="-120"/>
              </a:rPr>
              <a:t>2 / 2</a:t>
            </a:r>
            <a:endParaRPr lang="en-US" sz="3600" dirty="0"/>
          </a:p>
        </p:txBody>
      </p:sp>
      <p:sp>
        <p:nvSpPr>
          <p:cNvPr id="20" name="Text 15"/>
          <p:cNvSpPr txBox="1"/>
          <p:nvPr/>
        </p:nvSpPr>
        <p:spPr>
          <a:xfrm>
            <a:off x="6720840" y="3017520"/>
            <a:ext cx="1737360" cy="59436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live runs where the smoke test failed and was rolled back</a:t>
            </a:r>
            <a:endParaRPr lang="en-US" sz="1100" dirty="0"/>
          </a:p>
        </p:txBody>
      </p:sp>
      <p:sp>
        <p:nvSpPr>
          <p:cNvPr id="21" name="Text 16"/>
          <p:cNvSpPr txBox="1"/>
          <p:nvPr/>
        </p:nvSpPr>
        <p:spPr>
          <a:xfrm>
            <a:off x="5120640" y="3840480"/>
            <a:ext cx="3383280" cy="457200"/>
          </a:xfrm>
          <a:prstGeom prst="rect">
            <a:avLst/>
          </a:prstGeom>
          <a:noFill/>
          <a:ln/>
        </p:spPr>
        <p:txBody>
          <a:bodyPr wrap="square" lIns="0" tIns="0" rIns="0" bIns="0" rtlCol="0" anchor="ctr"/>
          <a:lstStyle/>
          <a:p>
            <a:pPr indent="0" marL="0">
              <a:buNone/>
            </a:pPr>
            <a:r>
              <a:rPr lang="en-US" sz="1100" i="1" dirty="0">
                <a:solidFill>
                  <a:srgbClr val="CBD5E1"/>
                </a:solidFill>
                <a:latin typeface="Calibri" pitchFamily="34" charset="0"/>
                <a:ea typeface="Calibri" pitchFamily="34" charset="-122"/>
                <a:cs typeface="Calibri" pitchFamily="34" charset="-120"/>
              </a:rPr>
              <a:t>Shown in the report and on each execution step as “previous live runs”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MINIMIZING RTO</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0E1726"/>
                </a:solidFill>
                <a:latin typeface="Arial" pitchFamily="34" charset="0"/>
                <a:ea typeface="Arial" pitchFamily="34" charset="-122"/>
                <a:cs typeface="Arial" pitchFamily="34" charset="-120"/>
              </a:rPr>
              <a:t>How the agent cuts recovery time</a:t>
            </a:r>
            <a:endParaRPr lang="en-US" sz="2800" dirty="0"/>
          </a:p>
        </p:txBody>
      </p:sp>
      <p:sp>
        <p:nvSpPr>
          <p:cNvPr id="4" name="Shape 2"/>
          <p:cNvSpPr/>
          <p:nvPr/>
        </p:nvSpPr>
        <p:spPr>
          <a:xfrm>
            <a:off x="457200" y="1234440"/>
            <a:ext cx="2651760" cy="2514600"/>
          </a:xfrm>
          <a:prstGeom prst="roundRect">
            <a:avLst>
              <a:gd name="adj" fmla="val 3636"/>
            </a:avLst>
          </a:prstGeom>
          <a:solidFill>
            <a:srgbClr val="F1F5F9"/>
          </a:solidFill>
          <a:ln w="12700">
            <a:solidFill>
              <a:srgbClr val="F1F5F9"/>
            </a:solidFill>
            <a:prstDash val="solid"/>
          </a:ln>
        </p:spPr>
      </p:sp>
      <p:sp>
        <p:nvSpPr>
          <p:cNvPr id="5" name="Shape 3"/>
          <p:cNvSpPr/>
          <p:nvPr/>
        </p:nvSpPr>
        <p:spPr>
          <a:xfrm>
            <a:off x="621792" y="1371600"/>
            <a:ext cx="457200" cy="457200"/>
          </a:xfrm>
          <a:prstGeom prst="roundRect">
            <a:avLst>
              <a:gd name="adj" fmla="val 24000"/>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740664" y="1490472"/>
            <a:ext cx="219456" cy="219456"/>
          </a:xfrm>
          <a:prstGeom prst="rect">
            <a:avLst/>
          </a:prstGeom>
        </p:spPr>
      </p:pic>
      <p:sp>
        <p:nvSpPr>
          <p:cNvPr id="7" name="Text 4"/>
          <p:cNvSpPr txBox="1"/>
          <p:nvPr/>
        </p:nvSpPr>
        <p:spPr>
          <a:xfrm>
            <a:off x="1188720" y="1371600"/>
            <a:ext cx="1828800" cy="201168"/>
          </a:xfrm>
          <a:prstGeom prst="rect">
            <a:avLst/>
          </a:prstGeom>
          <a:noFill/>
          <a:ln/>
        </p:spPr>
        <p:txBody>
          <a:bodyPr wrap="square" lIns="0" tIns="0" rIns="0" bIns="0" rtlCol="0" anchor="ctr"/>
          <a:lstStyle/>
          <a:p>
            <a:pPr indent="0" marL="0">
              <a:buNone/>
            </a:pPr>
            <a:r>
              <a:rPr lang="en-US" sz="900" b="1" spc="100" kern="0" dirty="0">
                <a:solidFill>
                  <a:srgbClr val="14B8A6"/>
                </a:solidFill>
                <a:latin typeface="Arial" pitchFamily="34" charset="0"/>
                <a:ea typeface="Arial" pitchFamily="34" charset="-122"/>
                <a:cs typeface="Arial" pitchFamily="34" charset="-120"/>
              </a:rPr>
              <a:t>BEFORE THE DISASTER</a:t>
            </a:r>
            <a:endParaRPr lang="en-US" sz="900" dirty="0"/>
          </a:p>
        </p:txBody>
      </p:sp>
      <p:sp>
        <p:nvSpPr>
          <p:cNvPr id="8" name="Text 5"/>
          <p:cNvSpPr txBox="1"/>
          <p:nvPr/>
        </p:nvSpPr>
        <p:spPr>
          <a:xfrm>
            <a:off x="1188720" y="1572768"/>
            <a:ext cx="1828800" cy="274320"/>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Remove surprises</a:t>
            </a:r>
            <a:endParaRPr lang="en-US" sz="1400" dirty="0"/>
          </a:p>
        </p:txBody>
      </p:sp>
      <p:sp>
        <p:nvSpPr>
          <p:cNvPr id="9" name="Text 6"/>
          <p:cNvSpPr txBox="1"/>
          <p:nvPr/>
        </p:nvSpPr>
        <p:spPr>
          <a:xfrm>
            <a:off x="621792" y="2011680"/>
            <a:ext cx="2359152" cy="1645920"/>
          </a:xfrm>
          <a:prstGeom prst="rect">
            <a:avLst/>
          </a:prstGeom>
          <a:noFill/>
          <a:ln/>
        </p:spPr>
        <p:txBody>
          <a:bodyPr wrap="square" lIns="0" tIns="0" rIns="0" bIns="0" rtlCol="0" anchor="t"/>
          <a:lstStyle/>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Fix blockers early.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Unhealthy dependencies, unclear owners, vague steps and missing rollbacks are found now, not mid-incident.</a:t>
            </a:r>
            <a:endParaRPr lang="en-US" sz="1150" dirty="0"/>
          </a:p>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Know the RTO holds.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RTO math flags a plan that cannot finish in time and names the bottleneck steps.</a:t>
            </a:r>
            <a:endParaRPr lang="en-US" sz="1150" dirty="0"/>
          </a:p>
        </p:txBody>
      </p:sp>
      <p:sp>
        <p:nvSpPr>
          <p:cNvPr id="10" name="Shape 7"/>
          <p:cNvSpPr/>
          <p:nvPr/>
        </p:nvSpPr>
        <p:spPr>
          <a:xfrm>
            <a:off x="3246120" y="1234440"/>
            <a:ext cx="2651760" cy="2514600"/>
          </a:xfrm>
          <a:prstGeom prst="roundRect">
            <a:avLst>
              <a:gd name="adj" fmla="val 3636"/>
            </a:avLst>
          </a:prstGeom>
          <a:solidFill>
            <a:srgbClr val="F1F5F9"/>
          </a:solidFill>
          <a:ln w="12700">
            <a:solidFill>
              <a:srgbClr val="F1F5F9"/>
            </a:solidFill>
            <a:prstDash val="solid"/>
          </a:ln>
        </p:spPr>
      </p:sp>
      <p:sp>
        <p:nvSpPr>
          <p:cNvPr id="11" name="Shape 8"/>
          <p:cNvSpPr/>
          <p:nvPr/>
        </p:nvSpPr>
        <p:spPr>
          <a:xfrm>
            <a:off x="3410712" y="1371600"/>
            <a:ext cx="457200" cy="457200"/>
          </a:xfrm>
          <a:prstGeom prst="roundRect">
            <a:avLst>
              <a:gd name="adj" fmla="val 24000"/>
            </a:avLst>
          </a:prstGeom>
          <a:solidFill>
            <a:srgbClr val="F5A524"/>
          </a:solidFill>
          <a:ln w="12700">
            <a:solidFill>
              <a:srgbClr val="F5A524"/>
            </a:solidFill>
            <a:prstDash val="solid"/>
          </a:ln>
        </p:spPr>
      </p:sp>
      <p:pic>
        <p:nvPicPr>
          <p:cNvPr id="12" name="Image 1" descr="preencoded.png">    </p:cNvPr>
          <p:cNvPicPr>
            <a:picLocks noChangeAspect="1"/>
          </p:cNvPicPr>
          <p:nvPr/>
        </p:nvPicPr>
        <p:blipFill>
          <a:blip r:embed="rId2"/>
          <a:stretch>
            <a:fillRect/>
          </a:stretch>
        </p:blipFill>
        <p:spPr>
          <a:xfrm>
            <a:off x="3529584" y="1490472"/>
            <a:ext cx="219456" cy="219456"/>
          </a:xfrm>
          <a:prstGeom prst="rect">
            <a:avLst/>
          </a:prstGeom>
        </p:spPr>
      </p:pic>
      <p:sp>
        <p:nvSpPr>
          <p:cNvPr id="13" name="Text 9"/>
          <p:cNvSpPr txBox="1"/>
          <p:nvPr/>
        </p:nvSpPr>
        <p:spPr>
          <a:xfrm>
            <a:off x="3977640" y="1371600"/>
            <a:ext cx="1828800" cy="201168"/>
          </a:xfrm>
          <a:prstGeom prst="rect">
            <a:avLst/>
          </a:prstGeom>
          <a:noFill/>
          <a:ln/>
        </p:spPr>
        <p:txBody>
          <a:bodyPr wrap="square" lIns="0" tIns="0" rIns="0" bIns="0" rtlCol="0" anchor="ctr"/>
          <a:lstStyle/>
          <a:p>
            <a:pPr indent="0" marL="0">
              <a:buNone/>
            </a:pPr>
            <a:r>
              <a:rPr lang="en-US" sz="900" b="1" spc="100" kern="0" dirty="0">
                <a:solidFill>
                  <a:srgbClr val="F5A524"/>
                </a:solidFill>
                <a:latin typeface="Arial" pitchFamily="34" charset="0"/>
                <a:ea typeface="Arial" pitchFamily="34" charset="-122"/>
                <a:cs typeface="Arial" pitchFamily="34" charset="-120"/>
              </a:rPr>
              <a:t>DURING THE DISASTER</a:t>
            </a:r>
            <a:endParaRPr lang="en-US" sz="900" dirty="0"/>
          </a:p>
        </p:txBody>
      </p:sp>
      <p:sp>
        <p:nvSpPr>
          <p:cNvPr id="14" name="Text 10"/>
          <p:cNvSpPr txBox="1"/>
          <p:nvPr/>
        </p:nvSpPr>
        <p:spPr>
          <a:xfrm>
            <a:off x="3977640" y="1572768"/>
            <a:ext cx="1828800" cy="274320"/>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Move fast, safely</a:t>
            </a:r>
            <a:endParaRPr lang="en-US" sz="1400" dirty="0"/>
          </a:p>
        </p:txBody>
      </p:sp>
      <p:sp>
        <p:nvSpPr>
          <p:cNvPr id="15" name="Text 11"/>
          <p:cNvSpPr txBox="1"/>
          <p:nvPr/>
        </p:nvSpPr>
        <p:spPr>
          <a:xfrm>
            <a:off x="3410712" y="2011680"/>
            <a:ext cx="2359152" cy="1645920"/>
          </a:xfrm>
          <a:prstGeom prst="rect">
            <a:avLst/>
          </a:prstGeom>
          <a:noFill/>
          <a:ln/>
        </p:spPr>
        <p:txBody>
          <a:bodyPr wrap="square" lIns="0" tIns="0" rIns="0" bIns="0" rtlCol="0" anchor="t"/>
          <a:lstStyle/>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Ready-made plan.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Steps come ordered in phases with owners and gates; independent steps run in parallel.</a:t>
            </a:r>
            <a:endParaRPr lang="en-US" sz="1150" dirty="0"/>
          </a:p>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Tools, not typing.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Approved MCP calls restart, promote and switch DNS; auto-verify confirms each step and rollback is ready.</a:t>
            </a:r>
            <a:endParaRPr lang="en-US" sz="1150" dirty="0"/>
          </a:p>
        </p:txBody>
      </p:sp>
      <p:sp>
        <p:nvSpPr>
          <p:cNvPr id="16" name="Shape 12"/>
          <p:cNvSpPr/>
          <p:nvPr/>
        </p:nvSpPr>
        <p:spPr>
          <a:xfrm>
            <a:off x="6035040" y="1234440"/>
            <a:ext cx="2651760" cy="2514600"/>
          </a:xfrm>
          <a:prstGeom prst="roundRect">
            <a:avLst>
              <a:gd name="adj" fmla="val 3636"/>
            </a:avLst>
          </a:prstGeom>
          <a:solidFill>
            <a:srgbClr val="F1F5F9"/>
          </a:solidFill>
          <a:ln w="12700">
            <a:solidFill>
              <a:srgbClr val="F1F5F9"/>
            </a:solidFill>
            <a:prstDash val="solid"/>
          </a:ln>
        </p:spPr>
      </p:sp>
      <p:sp>
        <p:nvSpPr>
          <p:cNvPr id="17" name="Shape 13"/>
          <p:cNvSpPr/>
          <p:nvPr/>
        </p:nvSpPr>
        <p:spPr>
          <a:xfrm>
            <a:off x="6199632" y="1371600"/>
            <a:ext cx="457200" cy="457200"/>
          </a:xfrm>
          <a:prstGeom prst="roundRect">
            <a:avLst>
              <a:gd name="adj" fmla="val 24000"/>
            </a:avLst>
          </a:prstGeom>
          <a:solidFill>
            <a:srgbClr val="0E1726"/>
          </a:solidFill>
          <a:ln w="12700">
            <a:solidFill>
              <a:srgbClr val="0E1726"/>
            </a:solidFill>
            <a:prstDash val="solid"/>
          </a:ln>
        </p:spPr>
      </p:sp>
      <p:pic>
        <p:nvPicPr>
          <p:cNvPr id="18" name="Image 2" descr="preencoded.png">    </p:cNvPr>
          <p:cNvPicPr>
            <a:picLocks noChangeAspect="1"/>
          </p:cNvPicPr>
          <p:nvPr/>
        </p:nvPicPr>
        <p:blipFill>
          <a:blip r:embed="rId3"/>
          <a:stretch>
            <a:fillRect/>
          </a:stretch>
        </p:blipFill>
        <p:spPr>
          <a:xfrm>
            <a:off x="6318504" y="1490472"/>
            <a:ext cx="219456" cy="219456"/>
          </a:xfrm>
          <a:prstGeom prst="rect">
            <a:avLst/>
          </a:prstGeom>
        </p:spPr>
      </p:pic>
      <p:sp>
        <p:nvSpPr>
          <p:cNvPr id="19" name="Text 14"/>
          <p:cNvSpPr txBox="1"/>
          <p:nvPr/>
        </p:nvSpPr>
        <p:spPr>
          <a:xfrm>
            <a:off x="6766560" y="1371600"/>
            <a:ext cx="1828800" cy="201168"/>
          </a:xfrm>
          <a:prstGeom prst="rect">
            <a:avLst/>
          </a:prstGeom>
          <a:noFill/>
          <a:ln/>
        </p:spPr>
        <p:txBody>
          <a:bodyPr wrap="square" lIns="0" tIns="0" rIns="0" bIns="0" rtlCol="0" anchor="ctr"/>
          <a:lstStyle/>
          <a:p>
            <a:pPr indent="0" marL="0">
              <a:buNone/>
            </a:pPr>
            <a:r>
              <a:rPr lang="en-US" sz="900" b="1" spc="100" kern="0" dirty="0">
                <a:solidFill>
                  <a:srgbClr val="64748B"/>
                </a:solidFill>
                <a:latin typeface="Arial" pitchFamily="34" charset="0"/>
                <a:ea typeface="Arial" pitchFamily="34" charset="-122"/>
                <a:cs typeface="Arial" pitchFamily="34" charset="-120"/>
              </a:rPr>
              <a:t>AFTER EVERY RUN</a:t>
            </a:r>
            <a:endParaRPr lang="en-US" sz="900" dirty="0"/>
          </a:p>
        </p:txBody>
      </p:sp>
      <p:sp>
        <p:nvSpPr>
          <p:cNvPr id="20" name="Text 15"/>
          <p:cNvSpPr txBox="1"/>
          <p:nvPr/>
        </p:nvSpPr>
        <p:spPr>
          <a:xfrm>
            <a:off x="6766560" y="1572768"/>
            <a:ext cx="1828800" cy="274320"/>
          </a:xfrm>
          <a:prstGeom prst="rect">
            <a:avLst/>
          </a:prstGeom>
          <a:noFill/>
          <a:ln/>
        </p:spPr>
        <p:txBody>
          <a:bodyPr wrap="square" lIns="0" tIns="0" rIns="0" bIns="0" rtlCol="0" anchor="ctr"/>
          <a:lstStyle/>
          <a:p>
            <a:pPr indent="0" marL="0">
              <a:buNone/>
            </a:pPr>
            <a:r>
              <a:rPr lang="en-US" sz="1400" b="1" dirty="0">
                <a:solidFill>
                  <a:srgbClr val="0E1726"/>
                </a:solidFill>
                <a:latin typeface="Arial" pitchFamily="34" charset="0"/>
                <a:ea typeface="Arial" pitchFamily="34" charset="-122"/>
                <a:cs typeface="Arial" pitchFamily="34" charset="-120"/>
              </a:rPr>
              <a:t>Get faster next time</a:t>
            </a:r>
            <a:endParaRPr lang="en-US" sz="1400" dirty="0"/>
          </a:p>
        </p:txBody>
      </p:sp>
      <p:sp>
        <p:nvSpPr>
          <p:cNvPr id="21" name="Text 16"/>
          <p:cNvSpPr txBox="1"/>
          <p:nvPr/>
        </p:nvSpPr>
        <p:spPr>
          <a:xfrm>
            <a:off x="6199632" y="2011680"/>
            <a:ext cx="2359152" cy="1645920"/>
          </a:xfrm>
          <a:prstGeom prst="rect">
            <a:avLst/>
          </a:prstGeom>
          <a:noFill/>
          <a:ln/>
        </p:spPr>
        <p:txBody>
          <a:bodyPr wrap="square" lIns="0" tIns="0" rIns="0" bIns="0" rtlCol="0" anchor="t"/>
          <a:lstStyle/>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Measured, not guessed.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Real step times and end-to-end time vs RTO are recorded per service.</a:t>
            </a:r>
            <a:endParaRPr lang="en-US" sz="1150" dirty="0"/>
          </a:p>
          <a:p>
            <a:pPr indent="0" marL="0">
              <a:spcAft>
                <a:spcPts val="800"/>
              </a:spcAft>
              <a:buNone/>
            </a:pPr>
            <a:r>
              <a:rPr lang="en-US" sz="1150" b="1" dirty="0">
                <a:solidFill>
                  <a:srgbClr val="0E1726"/>
                </a:solidFill>
                <a:latin typeface="Calibri" pitchFamily="34" charset="0"/>
                <a:ea typeface="Calibri" pitchFamily="34" charset="-122"/>
                <a:cs typeface="Calibri" pitchFamily="34" charset="-120"/>
              </a:rPr>
              <a:t>Target the slow parts. </a:t>
            </a:r>
            <a:pPr indent="0" marL="0">
              <a:spcAft>
                <a:spcPts val="800"/>
              </a:spcAft>
              <a:buNone/>
            </a:pPr>
            <a:r>
              <a:rPr lang="en-US" sz="1150" dirty="0">
                <a:solidFill>
                  <a:srgbClr val="1E293B"/>
                </a:solidFill>
                <a:latin typeface="Calibri" pitchFamily="34" charset="0"/>
                <a:ea typeface="Calibri" pitchFamily="34" charset="-122"/>
                <a:cs typeface="Calibri" pitchFamily="34" charset="-120"/>
              </a:rPr>
              <a:t>Steps that keep failing or run long become gaps to fix before the next incident.</a:t>
            </a:r>
            <a:endParaRPr lang="en-US" sz="1150" dirty="0"/>
          </a:p>
        </p:txBody>
      </p:sp>
      <p:sp>
        <p:nvSpPr>
          <p:cNvPr id="22" name="Shape 17"/>
          <p:cNvSpPr/>
          <p:nvPr/>
        </p:nvSpPr>
        <p:spPr>
          <a:xfrm>
            <a:off x="457200" y="3931920"/>
            <a:ext cx="8229600" cy="822960"/>
          </a:xfrm>
          <a:prstGeom prst="roundRect">
            <a:avLst>
              <a:gd name="adj" fmla="val 11111"/>
            </a:avLst>
          </a:prstGeom>
          <a:solidFill>
            <a:srgbClr val="0E1726"/>
          </a:solidFill>
          <a:ln w="12700">
            <a:solidFill>
              <a:srgbClr val="0E1726"/>
            </a:solidFill>
            <a:prstDash val="solid"/>
          </a:ln>
        </p:spPr>
      </p:sp>
      <p:sp>
        <p:nvSpPr>
          <p:cNvPr id="23" name="Text 18"/>
          <p:cNvSpPr txBox="1"/>
          <p:nvPr/>
        </p:nvSpPr>
        <p:spPr>
          <a:xfrm>
            <a:off x="685800" y="4023360"/>
            <a:ext cx="2011680" cy="228600"/>
          </a:xfrm>
          <a:prstGeom prst="rect">
            <a:avLst/>
          </a:prstGeom>
          <a:noFill/>
          <a:ln/>
        </p:spPr>
        <p:txBody>
          <a:bodyPr wrap="square" lIns="0" tIns="0" rIns="0" bIns="0" rtlCol="0" anchor="ctr"/>
          <a:lstStyle/>
          <a:p>
            <a:pPr indent="0" marL="0">
              <a:buNone/>
            </a:pPr>
            <a:r>
              <a:rPr lang="en-US" sz="900" b="1" spc="100" kern="0" dirty="0">
                <a:solidFill>
                  <a:srgbClr val="F5A524"/>
                </a:solidFill>
                <a:latin typeface="Arial" pitchFamily="34" charset="0"/>
                <a:ea typeface="Arial" pitchFamily="34" charset="-122"/>
                <a:cs typeface="Arial" pitchFamily="34" charset="-120"/>
              </a:rPr>
              <a:t>ESTIMATE SERVICE</a:t>
            </a:r>
            <a:endParaRPr lang="en-US" sz="900" dirty="0"/>
          </a:p>
        </p:txBody>
      </p:sp>
      <p:sp>
        <p:nvSpPr>
          <p:cNvPr id="24" name="Text 19"/>
          <p:cNvSpPr txBox="1"/>
          <p:nvPr/>
        </p:nvSpPr>
        <p:spPr>
          <a:xfrm>
            <a:off x="685800" y="4251960"/>
            <a:ext cx="2103120" cy="4114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Parallel phases, computed from the sample runbook</a:t>
            </a:r>
            <a:endParaRPr lang="en-US" sz="1100" dirty="0"/>
          </a:p>
        </p:txBody>
      </p:sp>
      <p:sp>
        <p:nvSpPr>
          <p:cNvPr id="25" name="Text 20"/>
          <p:cNvSpPr txBox="1"/>
          <p:nvPr/>
        </p:nvSpPr>
        <p:spPr>
          <a:xfrm>
            <a:off x="3017520" y="4005072"/>
            <a:ext cx="1737360" cy="411480"/>
          </a:xfrm>
          <a:prstGeom prst="rect">
            <a:avLst/>
          </a:prstGeom>
          <a:noFill/>
          <a:ln/>
        </p:spPr>
        <p:txBody>
          <a:bodyPr wrap="square" lIns="0" tIns="0" rIns="0" bIns="0" rtlCol="0" anchor="ctr"/>
          <a:lstStyle/>
          <a:p>
            <a:pPr indent="0" marL="0">
              <a:buNone/>
            </a:pPr>
            <a:r>
              <a:rPr lang="en-US" sz="2200" b="1" dirty="0">
                <a:solidFill>
                  <a:srgbClr val="CBD5E1"/>
                </a:solidFill>
                <a:latin typeface="Arial" pitchFamily="34" charset="0"/>
                <a:ea typeface="Arial" pitchFamily="34" charset="-122"/>
                <a:cs typeface="Arial" pitchFamily="34" charset="-120"/>
              </a:rPr>
              <a:t>55 min</a:t>
            </a:r>
            <a:endParaRPr lang="en-US" sz="2200" dirty="0"/>
          </a:p>
        </p:txBody>
      </p:sp>
      <p:sp>
        <p:nvSpPr>
          <p:cNvPr id="26" name="Text 21"/>
          <p:cNvSpPr txBox="1"/>
          <p:nvPr/>
        </p:nvSpPr>
        <p:spPr>
          <a:xfrm>
            <a:off x="3017520" y="4416552"/>
            <a:ext cx="173736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steps one by one</a:t>
            </a:r>
            <a:endParaRPr lang="en-US" sz="1100" dirty="0"/>
          </a:p>
        </p:txBody>
      </p:sp>
      <p:sp>
        <p:nvSpPr>
          <p:cNvPr id="27" name="Text 22"/>
          <p:cNvSpPr txBox="1"/>
          <p:nvPr/>
        </p:nvSpPr>
        <p:spPr>
          <a:xfrm>
            <a:off x="4343400" y="4023360"/>
            <a:ext cx="457200" cy="411480"/>
          </a:xfrm>
          <a:prstGeom prst="rect">
            <a:avLst/>
          </a:prstGeom>
          <a:noFill/>
          <a:ln/>
        </p:spPr>
        <p:txBody>
          <a:bodyPr wrap="square" lIns="0" tIns="0" rIns="0" bIns="0" rtlCol="0" anchor="ctr"/>
          <a:lstStyle/>
          <a:p>
            <a:pPr indent="0" marL="0">
              <a:buNone/>
            </a:pPr>
            <a:r>
              <a:rPr lang="en-US" sz="1800" dirty="0">
                <a:solidFill>
                  <a:srgbClr val="475569"/>
                </a:solidFill>
                <a:latin typeface="Arial" pitchFamily="34" charset="0"/>
                <a:ea typeface="Arial" pitchFamily="34" charset="-122"/>
                <a:cs typeface="Arial" pitchFamily="34" charset="-120"/>
              </a:rPr>
              <a:t>→</a:t>
            </a:r>
            <a:endParaRPr lang="en-US" sz="1800" dirty="0"/>
          </a:p>
        </p:txBody>
      </p:sp>
      <p:sp>
        <p:nvSpPr>
          <p:cNvPr id="28" name="Text 23"/>
          <p:cNvSpPr txBox="1"/>
          <p:nvPr/>
        </p:nvSpPr>
        <p:spPr>
          <a:xfrm>
            <a:off x="4937760" y="4005072"/>
            <a:ext cx="1737360" cy="411480"/>
          </a:xfrm>
          <a:prstGeom prst="rect">
            <a:avLst/>
          </a:prstGeom>
          <a:noFill/>
          <a:ln/>
        </p:spPr>
        <p:txBody>
          <a:bodyPr wrap="square" lIns="0" tIns="0" rIns="0" bIns="0" rtlCol="0" anchor="ctr"/>
          <a:lstStyle/>
          <a:p>
            <a:pPr indent="0" marL="0">
              <a:buNone/>
            </a:pPr>
            <a:r>
              <a:rPr lang="en-US" sz="2200" b="1" dirty="0">
                <a:solidFill>
                  <a:srgbClr val="14B8A6"/>
                </a:solidFill>
                <a:latin typeface="Arial" pitchFamily="34" charset="0"/>
                <a:ea typeface="Arial" pitchFamily="34" charset="-122"/>
                <a:cs typeface="Arial" pitchFamily="34" charset="-120"/>
              </a:rPr>
              <a:t>50 min</a:t>
            </a:r>
            <a:endParaRPr lang="en-US" sz="2200" dirty="0"/>
          </a:p>
        </p:txBody>
      </p:sp>
      <p:sp>
        <p:nvSpPr>
          <p:cNvPr id="29" name="Text 24"/>
          <p:cNvSpPr txBox="1"/>
          <p:nvPr/>
        </p:nvSpPr>
        <p:spPr>
          <a:xfrm>
            <a:off x="4937760" y="4416552"/>
            <a:ext cx="173736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phased plan</a:t>
            </a:r>
            <a:endParaRPr lang="en-US" sz="1100" dirty="0"/>
          </a:p>
        </p:txBody>
      </p:sp>
      <p:sp>
        <p:nvSpPr>
          <p:cNvPr id="30" name="Text 25"/>
          <p:cNvSpPr txBox="1"/>
          <p:nvPr/>
        </p:nvSpPr>
        <p:spPr>
          <a:xfrm>
            <a:off x="6858000" y="4005072"/>
            <a:ext cx="1737360" cy="411480"/>
          </a:xfrm>
          <a:prstGeom prst="rect">
            <a:avLst/>
          </a:prstGeom>
          <a:noFill/>
          <a:ln/>
        </p:spPr>
        <p:txBody>
          <a:bodyPr wrap="square" lIns="0" tIns="0" rIns="0" bIns="0" rtlCol="0" anchor="ctr"/>
          <a:lstStyle/>
          <a:p>
            <a:pPr indent="0" marL="0">
              <a:buNone/>
            </a:pPr>
            <a:r>
              <a:rPr lang="en-US" sz="2200" b="1" dirty="0">
                <a:solidFill>
                  <a:srgbClr val="F5A524"/>
                </a:solidFill>
                <a:latin typeface="Arial" pitchFamily="34" charset="0"/>
                <a:ea typeface="Arial" pitchFamily="34" charset="-122"/>
                <a:cs typeface="Arial" pitchFamily="34" charset="-120"/>
              </a:rPr>
              <a:t>10 min</a:t>
            </a:r>
            <a:endParaRPr lang="en-US" sz="2200" dirty="0"/>
          </a:p>
        </p:txBody>
      </p:sp>
      <p:sp>
        <p:nvSpPr>
          <p:cNvPr id="31" name="Text 26"/>
          <p:cNvSpPr txBox="1"/>
          <p:nvPr/>
        </p:nvSpPr>
        <p:spPr>
          <a:xfrm>
            <a:off x="6858000" y="4416552"/>
            <a:ext cx="173736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spare vs 60 min RTO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HOW IT IS BUILT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Three front doors, one engine, fully open source</a:t>
            </a:r>
            <a:endParaRPr lang="en-US" sz="2800" dirty="0"/>
          </a:p>
        </p:txBody>
      </p:sp>
      <p:sp>
        <p:nvSpPr>
          <p:cNvPr id="4" name="Shape 2"/>
          <p:cNvSpPr/>
          <p:nvPr/>
        </p:nvSpPr>
        <p:spPr>
          <a:xfrm>
            <a:off x="457200" y="1325880"/>
            <a:ext cx="1344168" cy="1508760"/>
          </a:xfrm>
          <a:prstGeom prst="roundRect">
            <a:avLst>
              <a:gd name="adj" fmla="val 6803"/>
            </a:avLst>
          </a:prstGeom>
          <a:solidFill>
            <a:srgbClr val="1B2A41"/>
          </a:solidFill>
          <a:ln w="12700">
            <a:solidFill>
              <a:srgbClr val="1B2A41"/>
            </a:solidFill>
            <a:prstDash val="solid"/>
          </a:ln>
        </p:spPr>
      </p:sp>
      <p:sp>
        <p:nvSpPr>
          <p:cNvPr id="5" name="Shape 3"/>
          <p:cNvSpPr/>
          <p:nvPr/>
        </p:nvSpPr>
        <p:spPr>
          <a:xfrm>
            <a:off x="868680" y="1444752"/>
            <a:ext cx="512064" cy="512064"/>
          </a:xfrm>
          <a:prstGeom prst="roundRect">
            <a:avLst>
              <a:gd name="adj" fmla="val 21429"/>
            </a:avLst>
          </a:prstGeom>
          <a:solidFill>
            <a:srgbClr val="334155"/>
          </a:solidFill>
          <a:ln w="12700">
            <a:solidFill>
              <a:srgbClr val="334155"/>
            </a:solidFill>
            <a:prstDash val="solid"/>
          </a:ln>
        </p:spPr>
      </p:sp>
      <p:pic>
        <p:nvPicPr>
          <p:cNvPr id="6" name="Image 0" descr="preencoded.png">    </p:cNvPr>
          <p:cNvPicPr>
            <a:picLocks noChangeAspect="1"/>
          </p:cNvPicPr>
          <p:nvPr/>
        </p:nvPicPr>
        <p:blipFill>
          <a:blip r:embed="rId1"/>
          <a:stretch>
            <a:fillRect/>
          </a:stretch>
        </p:blipFill>
        <p:spPr>
          <a:xfrm>
            <a:off x="1001817" y="1577889"/>
            <a:ext cx="245791" cy="245791"/>
          </a:xfrm>
          <a:prstGeom prst="rect">
            <a:avLst/>
          </a:prstGeom>
        </p:spPr>
      </p:pic>
      <p:sp>
        <p:nvSpPr>
          <p:cNvPr id="7" name="Text 4"/>
          <p:cNvSpPr txBox="1"/>
          <p:nvPr/>
        </p:nvSpPr>
        <p:spPr>
          <a:xfrm>
            <a:off x="530352" y="2011680"/>
            <a:ext cx="119786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CLI</a:t>
            </a:r>
            <a:endParaRPr lang="en-US" sz="1300" dirty="0"/>
          </a:p>
        </p:txBody>
      </p:sp>
      <p:sp>
        <p:nvSpPr>
          <p:cNvPr id="8" name="Text 5"/>
          <p:cNvSpPr txBox="1"/>
          <p:nvPr/>
        </p:nvSpPr>
        <p:spPr>
          <a:xfrm>
            <a:off x="530352" y="2286000"/>
            <a:ext cx="1197864" cy="502920"/>
          </a:xfrm>
          <a:prstGeom prst="rect">
            <a:avLst/>
          </a:prstGeom>
          <a:noFill/>
          <a:ln/>
        </p:spPr>
        <p:txBody>
          <a:bodyPr wrap="square" lIns="0" tIns="0" rIns="0" bIns="0" rtlCol="0" anchor="t"/>
          <a:lstStyle/>
          <a:p>
            <a:pPr algn="ctr" indent="0" marL="0">
              <a:buNone/>
            </a:pPr>
            <a:r>
              <a:rPr lang="en-US" sz="1000" dirty="0">
                <a:solidFill>
                  <a:srgbClr val="CBD5E1"/>
                </a:solidFill>
                <a:latin typeface="Calibri" pitchFamily="34" charset="0"/>
                <a:ea typeface="Calibri" pitchFamily="34" charset="-122"/>
                <a:cs typeface="Calibri" pitchFamily="34" charset="-120"/>
              </a:rPr>
              <a:t>dr-agent analyze | execute | history | schedule</a:t>
            </a:r>
            <a:endParaRPr lang="en-US" sz="1000" dirty="0"/>
          </a:p>
        </p:txBody>
      </p:sp>
      <p:sp>
        <p:nvSpPr>
          <p:cNvPr id="9" name="Shape 6"/>
          <p:cNvSpPr/>
          <p:nvPr/>
        </p:nvSpPr>
        <p:spPr>
          <a:xfrm>
            <a:off x="1938528" y="1325880"/>
            <a:ext cx="1344168" cy="1508760"/>
          </a:xfrm>
          <a:prstGeom prst="roundRect">
            <a:avLst>
              <a:gd name="adj" fmla="val 6803"/>
            </a:avLst>
          </a:prstGeom>
          <a:solidFill>
            <a:srgbClr val="1B2A41"/>
          </a:solidFill>
          <a:ln w="12700">
            <a:solidFill>
              <a:srgbClr val="1B2A41"/>
            </a:solidFill>
            <a:prstDash val="solid"/>
          </a:ln>
        </p:spPr>
      </p:sp>
      <p:sp>
        <p:nvSpPr>
          <p:cNvPr id="10" name="Shape 7"/>
          <p:cNvSpPr/>
          <p:nvPr/>
        </p:nvSpPr>
        <p:spPr>
          <a:xfrm>
            <a:off x="2350008" y="1444752"/>
            <a:ext cx="512064" cy="512064"/>
          </a:xfrm>
          <a:prstGeom prst="roundRect">
            <a:avLst>
              <a:gd name="adj" fmla="val 21429"/>
            </a:avLst>
          </a:prstGeom>
          <a:solidFill>
            <a:srgbClr val="334155"/>
          </a:solidFill>
          <a:ln w="12700">
            <a:solidFill>
              <a:srgbClr val="334155"/>
            </a:solidFill>
            <a:prstDash val="solid"/>
          </a:ln>
        </p:spPr>
      </p:sp>
      <p:pic>
        <p:nvPicPr>
          <p:cNvPr id="11" name="Image 1" descr="preencoded.png">    </p:cNvPr>
          <p:cNvPicPr>
            <a:picLocks noChangeAspect="1"/>
          </p:cNvPicPr>
          <p:nvPr/>
        </p:nvPicPr>
        <p:blipFill>
          <a:blip r:embed="rId2"/>
          <a:stretch>
            <a:fillRect/>
          </a:stretch>
        </p:blipFill>
        <p:spPr>
          <a:xfrm>
            <a:off x="2483145" y="1577889"/>
            <a:ext cx="245791" cy="245791"/>
          </a:xfrm>
          <a:prstGeom prst="rect">
            <a:avLst/>
          </a:prstGeom>
        </p:spPr>
      </p:pic>
      <p:sp>
        <p:nvSpPr>
          <p:cNvPr id="12" name="Text 8"/>
          <p:cNvSpPr txBox="1"/>
          <p:nvPr/>
        </p:nvSpPr>
        <p:spPr>
          <a:xfrm>
            <a:off x="2011680" y="2011680"/>
            <a:ext cx="119786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REST API</a:t>
            </a:r>
            <a:endParaRPr lang="en-US" sz="1300" dirty="0"/>
          </a:p>
        </p:txBody>
      </p:sp>
      <p:sp>
        <p:nvSpPr>
          <p:cNvPr id="13" name="Text 9"/>
          <p:cNvSpPr txBox="1"/>
          <p:nvPr/>
        </p:nvSpPr>
        <p:spPr>
          <a:xfrm>
            <a:off x="2011680" y="2286000"/>
            <a:ext cx="1197864" cy="502920"/>
          </a:xfrm>
          <a:prstGeom prst="rect">
            <a:avLst/>
          </a:prstGeom>
          <a:noFill/>
          <a:ln/>
        </p:spPr>
        <p:txBody>
          <a:bodyPr wrap="square" lIns="0" tIns="0" rIns="0" bIns="0" rtlCol="0" anchor="t"/>
          <a:lstStyle/>
          <a:p>
            <a:pPr algn="ctr" indent="0" marL="0">
              <a:buNone/>
            </a:pPr>
            <a:r>
              <a:rPr lang="en-US" sz="1000" dirty="0">
                <a:solidFill>
                  <a:srgbClr val="CBD5E1"/>
                </a:solidFill>
                <a:latin typeface="Calibri" pitchFamily="34" charset="0"/>
                <a:ea typeface="Calibri" pitchFamily="34" charset="-122"/>
                <a:cs typeface="Calibri" pitchFamily="34" charset="-120"/>
              </a:rPr>
              <a:t>FastAPI, typed OpenAPI client</a:t>
            </a:r>
            <a:endParaRPr lang="en-US" sz="1000" dirty="0"/>
          </a:p>
        </p:txBody>
      </p:sp>
      <p:sp>
        <p:nvSpPr>
          <p:cNvPr id="14" name="Shape 10"/>
          <p:cNvSpPr/>
          <p:nvPr/>
        </p:nvSpPr>
        <p:spPr>
          <a:xfrm>
            <a:off x="3419856" y="1325880"/>
            <a:ext cx="1344168" cy="1508760"/>
          </a:xfrm>
          <a:prstGeom prst="roundRect">
            <a:avLst>
              <a:gd name="adj" fmla="val 6803"/>
            </a:avLst>
          </a:prstGeom>
          <a:solidFill>
            <a:srgbClr val="1B2A41"/>
          </a:solidFill>
          <a:ln w="12700">
            <a:solidFill>
              <a:srgbClr val="1B2A41"/>
            </a:solidFill>
            <a:prstDash val="solid"/>
          </a:ln>
        </p:spPr>
      </p:sp>
      <p:sp>
        <p:nvSpPr>
          <p:cNvPr id="15" name="Shape 11"/>
          <p:cNvSpPr/>
          <p:nvPr/>
        </p:nvSpPr>
        <p:spPr>
          <a:xfrm>
            <a:off x="3831336" y="1444752"/>
            <a:ext cx="512064" cy="512064"/>
          </a:xfrm>
          <a:prstGeom prst="roundRect">
            <a:avLst>
              <a:gd name="adj" fmla="val 21429"/>
            </a:avLst>
          </a:prstGeom>
          <a:solidFill>
            <a:srgbClr val="334155"/>
          </a:solidFill>
          <a:ln w="12700">
            <a:solidFill>
              <a:srgbClr val="334155"/>
            </a:solidFill>
            <a:prstDash val="solid"/>
          </a:ln>
        </p:spPr>
      </p:sp>
      <p:pic>
        <p:nvPicPr>
          <p:cNvPr id="16" name="Image 2" descr="preencoded.png">    </p:cNvPr>
          <p:cNvPicPr>
            <a:picLocks noChangeAspect="1"/>
          </p:cNvPicPr>
          <p:nvPr/>
        </p:nvPicPr>
        <p:blipFill>
          <a:blip r:embed="rId3"/>
          <a:stretch>
            <a:fillRect/>
          </a:stretch>
        </p:blipFill>
        <p:spPr>
          <a:xfrm>
            <a:off x="3964473" y="1577889"/>
            <a:ext cx="245791" cy="245791"/>
          </a:xfrm>
          <a:prstGeom prst="rect">
            <a:avLst/>
          </a:prstGeom>
        </p:spPr>
      </p:pic>
      <p:sp>
        <p:nvSpPr>
          <p:cNvPr id="17" name="Text 12"/>
          <p:cNvSpPr txBox="1"/>
          <p:nvPr/>
        </p:nvSpPr>
        <p:spPr>
          <a:xfrm>
            <a:off x="3493008" y="2011680"/>
            <a:ext cx="119786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Dashboard</a:t>
            </a:r>
            <a:endParaRPr lang="en-US" sz="1300" dirty="0"/>
          </a:p>
        </p:txBody>
      </p:sp>
      <p:sp>
        <p:nvSpPr>
          <p:cNvPr id="18" name="Text 13"/>
          <p:cNvSpPr txBox="1"/>
          <p:nvPr/>
        </p:nvSpPr>
        <p:spPr>
          <a:xfrm>
            <a:off x="3493008" y="2286000"/>
            <a:ext cx="1197864" cy="502920"/>
          </a:xfrm>
          <a:prstGeom prst="rect">
            <a:avLst/>
          </a:prstGeom>
          <a:noFill/>
          <a:ln/>
        </p:spPr>
        <p:txBody>
          <a:bodyPr wrap="square" lIns="0" tIns="0" rIns="0" bIns="0" rtlCol="0" anchor="t"/>
          <a:lstStyle/>
          <a:p>
            <a:pPr algn="ctr" indent="0" marL="0">
              <a:buNone/>
            </a:pPr>
            <a:r>
              <a:rPr lang="en-US" sz="1000" dirty="0">
                <a:solidFill>
                  <a:srgbClr val="CBD5E1"/>
                </a:solidFill>
                <a:latin typeface="Calibri" pitchFamily="34" charset="0"/>
                <a:ea typeface="Calibri" pitchFamily="34" charset="-122"/>
                <a:cs typeface="Calibri" pitchFamily="34" charset="-120"/>
              </a:rPr>
              <a:t>React: risk gauge, RTO waterfall, gaps</a:t>
            </a:r>
            <a:endParaRPr lang="en-US" sz="1000" dirty="0"/>
          </a:p>
        </p:txBody>
      </p:sp>
      <p:sp>
        <p:nvSpPr>
          <p:cNvPr id="19" name="Shape 14"/>
          <p:cNvSpPr/>
          <p:nvPr/>
        </p:nvSpPr>
        <p:spPr>
          <a:xfrm>
            <a:off x="457200" y="3017520"/>
            <a:ext cx="4306824" cy="502920"/>
          </a:xfrm>
          <a:prstGeom prst="roundRect">
            <a:avLst>
              <a:gd name="adj" fmla="val 18182"/>
            </a:avLst>
          </a:prstGeom>
          <a:solidFill>
            <a:srgbClr val="F5A524"/>
          </a:solidFill>
          <a:ln w="12700">
            <a:solidFill>
              <a:srgbClr val="F5A524"/>
            </a:solidFill>
            <a:prstDash val="solid"/>
          </a:ln>
        </p:spPr>
      </p:sp>
      <p:sp>
        <p:nvSpPr>
          <p:cNvPr id="20" name="Text 15"/>
          <p:cNvSpPr txBox="1"/>
          <p:nvPr/>
        </p:nvSpPr>
        <p:spPr>
          <a:xfrm>
            <a:off x="548640" y="3017520"/>
            <a:ext cx="4114800" cy="502920"/>
          </a:xfrm>
          <a:prstGeom prst="rect">
            <a:avLst/>
          </a:prstGeom>
          <a:noFill/>
          <a:ln/>
        </p:spPr>
        <p:txBody>
          <a:bodyPr wrap="square" lIns="0" tIns="0" rIns="0" bIns="0" rtlCol="0" anchor="ctr"/>
          <a:lstStyle/>
          <a:p>
            <a:pPr algn="ctr" indent="0" marL="0">
              <a:buNone/>
            </a:pPr>
            <a:r>
              <a:rPr lang="en-US" sz="1250" b="1" dirty="0">
                <a:solidFill>
                  <a:srgbClr val="0E1726"/>
                </a:solidFill>
                <a:latin typeface="Calibri" pitchFamily="34" charset="0"/>
                <a:ea typeface="Calibri" pitchFamily="34" charset="-122"/>
                <a:cs typeface="Calibri" pitchFamily="34" charset="-120"/>
              </a:rPr>
              <a:t>service.py: framework-free core (parse, validate, analyze)</a:t>
            </a:r>
            <a:endParaRPr lang="en-US" sz="1250" dirty="0"/>
          </a:p>
        </p:txBody>
      </p:sp>
      <p:sp>
        <p:nvSpPr>
          <p:cNvPr id="21" name="Text 16"/>
          <p:cNvSpPr txBox="1"/>
          <p:nvPr/>
        </p:nvSpPr>
        <p:spPr>
          <a:xfrm>
            <a:off x="457200" y="3703320"/>
            <a:ext cx="4306824" cy="822960"/>
          </a:xfrm>
          <a:prstGeom prst="rect">
            <a:avLst/>
          </a:prstGeom>
          <a:noFill/>
          <a:ln/>
        </p:spPr>
        <p:txBody>
          <a:bodyPr wrap="square" lIns="0" tIns="0" rIns="0" bIns="0" rtlCol="0" anchor="t"/>
          <a:lstStyle/>
          <a:p>
            <a:pPr indent="0" marL="0">
              <a:spcAft>
                <a:spcPts val="400"/>
              </a:spcAft>
              <a:buNone/>
            </a:pPr>
            <a:r>
              <a:rPr lang="en-US" sz="1200" b="1" dirty="0">
                <a:solidFill>
                  <a:srgbClr val="F5A524"/>
                </a:solidFill>
                <a:latin typeface="Calibri" pitchFamily="34" charset="0"/>
                <a:ea typeface="Calibri" pitchFamily="34" charset="-122"/>
                <a:cs typeface="Calibri" pitchFamily="34" charset="-120"/>
              </a:rPr>
              <a:t>LLM: </a:t>
            </a:r>
            <a:pPr indent="0" marL="0">
              <a:spcAft>
                <a:spcPts val="400"/>
              </a:spcAft>
              <a:buNone/>
            </a:pPr>
            <a:r>
              <a:rPr lang="en-US" sz="1200" dirty="0">
                <a:solidFill>
                  <a:srgbClr val="CBD5E1"/>
                </a:solidFill>
                <a:latin typeface="Calibri" pitchFamily="34" charset="0"/>
                <a:ea typeface="Calibri" pitchFamily="34" charset="-122"/>
                <a:cs typeface="Calibri" pitchFamily="34" charset="-120"/>
              </a:rPr>
              <a:t>Ollama locally or any OpenAI-compatible API, by config</a:t>
            </a:r>
            <a:endParaRPr lang="en-US" sz="1200" dirty="0"/>
          </a:p>
          <a:p>
            <a:pPr indent="0" marL="0">
              <a:spcAft>
                <a:spcPts val="400"/>
              </a:spcAft>
              <a:buNone/>
            </a:pPr>
            <a:r>
              <a:rPr lang="en-US" sz="1200" b="1" dirty="0">
                <a:solidFill>
                  <a:srgbClr val="F5A524"/>
                </a:solidFill>
                <a:latin typeface="Calibri" pitchFamily="34" charset="0"/>
                <a:ea typeface="Calibri" pitchFamily="34" charset="-122"/>
                <a:cs typeface="Calibri" pitchFamily="34" charset="-120"/>
              </a:rPr>
              <a:t>Delivery: </a:t>
            </a:r>
            <a:pPr indent="0" marL="0">
              <a:spcAft>
                <a:spcPts val="400"/>
              </a:spcAft>
              <a:buNone/>
            </a:pPr>
            <a:r>
              <a:rPr lang="en-US" sz="1200" dirty="0">
                <a:solidFill>
                  <a:srgbClr val="CBD5E1"/>
                </a:solidFill>
                <a:latin typeface="Calibri" pitchFamily="34" charset="0"/>
                <a:ea typeface="Calibri" pitchFamily="34" charset="-122"/>
                <a:cs typeface="Calibri" pitchFamily="34" charset="-120"/>
              </a:rPr>
              <a:t>Docker Compose + Mailpit + GitHub Actions CI</a:t>
            </a:r>
            <a:endParaRPr lang="en-US" sz="1200" dirty="0"/>
          </a:p>
        </p:txBody>
      </p:sp>
      <p:sp>
        <p:nvSpPr>
          <p:cNvPr id="22" name="Text 17"/>
          <p:cNvSpPr txBox="1"/>
          <p:nvPr/>
        </p:nvSpPr>
        <p:spPr>
          <a:xfrm>
            <a:off x="5120640" y="1325880"/>
            <a:ext cx="1737360" cy="594360"/>
          </a:xfrm>
          <a:prstGeom prst="rect">
            <a:avLst/>
          </a:prstGeom>
          <a:noFill/>
          <a:ln/>
        </p:spPr>
        <p:txBody>
          <a:bodyPr wrap="square" lIns="0" tIns="0" rIns="0" bIns="0" rtlCol="0" anchor="ctr"/>
          <a:lstStyle/>
          <a:p>
            <a:pPr indent="0" marL="0">
              <a:buNone/>
            </a:pPr>
            <a:r>
              <a:rPr lang="en-US" sz="3200" b="1" dirty="0">
                <a:solidFill>
                  <a:srgbClr val="F5A524"/>
                </a:solidFill>
                <a:latin typeface="Arial" pitchFamily="34" charset="0"/>
                <a:ea typeface="Arial" pitchFamily="34" charset="-122"/>
                <a:cs typeface="Arial" pitchFamily="34" charset="-120"/>
              </a:rPr>
              <a:t>99%</a:t>
            </a:r>
            <a:endParaRPr lang="en-US" sz="3200" dirty="0"/>
          </a:p>
        </p:txBody>
      </p:sp>
      <p:sp>
        <p:nvSpPr>
          <p:cNvPr id="23" name="Text 18"/>
          <p:cNvSpPr txBox="1"/>
          <p:nvPr/>
        </p:nvSpPr>
        <p:spPr>
          <a:xfrm>
            <a:off x="5120640" y="1920240"/>
            <a:ext cx="173736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backend coverage</a:t>
            </a:r>
            <a:endParaRPr lang="en-US" sz="1200" dirty="0"/>
          </a:p>
        </p:txBody>
      </p:sp>
      <p:sp>
        <p:nvSpPr>
          <p:cNvPr id="24" name="Text 19"/>
          <p:cNvSpPr txBox="1"/>
          <p:nvPr/>
        </p:nvSpPr>
        <p:spPr>
          <a:xfrm>
            <a:off x="6949440" y="1325880"/>
            <a:ext cx="1737360" cy="594360"/>
          </a:xfrm>
          <a:prstGeom prst="rect">
            <a:avLst/>
          </a:prstGeom>
          <a:noFill/>
          <a:ln/>
        </p:spPr>
        <p:txBody>
          <a:bodyPr wrap="square" lIns="0" tIns="0" rIns="0" bIns="0" rtlCol="0" anchor="ctr"/>
          <a:lstStyle/>
          <a:p>
            <a:pPr indent="0" marL="0">
              <a:buNone/>
            </a:pPr>
            <a:r>
              <a:rPr lang="en-US" sz="3200" b="1" dirty="0">
                <a:solidFill>
                  <a:srgbClr val="14B8A6"/>
                </a:solidFill>
                <a:latin typeface="Arial" pitchFamily="34" charset="0"/>
                <a:ea typeface="Arial" pitchFamily="34" charset="-122"/>
                <a:cs typeface="Arial" pitchFamily="34" charset="-120"/>
              </a:rPr>
              <a:t>149</a:t>
            </a:r>
            <a:endParaRPr lang="en-US" sz="3200" dirty="0"/>
          </a:p>
        </p:txBody>
      </p:sp>
      <p:sp>
        <p:nvSpPr>
          <p:cNvPr id="25" name="Text 20"/>
          <p:cNvSpPr txBox="1"/>
          <p:nvPr/>
        </p:nvSpPr>
        <p:spPr>
          <a:xfrm>
            <a:off x="6949440" y="1920240"/>
            <a:ext cx="173736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UI tests</a:t>
            </a:r>
            <a:endParaRPr lang="en-US" sz="1200" dirty="0"/>
          </a:p>
        </p:txBody>
      </p:sp>
      <p:sp>
        <p:nvSpPr>
          <p:cNvPr id="26" name="Text 21"/>
          <p:cNvSpPr txBox="1"/>
          <p:nvPr/>
        </p:nvSpPr>
        <p:spPr>
          <a:xfrm>
            <a:off x="5120640" y="2560320"/>
            <a:ext cx="1737360" cy="594360"/>
          </a:xfrm>
          <a:prstGeom prst="rect">
            <a:avLst/>
          </a:prstGeom>
          <a:noFill/>
          <a:ln/>
        </p:spPr>
        <p:txBody>
          <a:bodyPr wrap="square" lIns="0" tIns="0" rIns="0" bIns="0" rtlCol="0" anchor="ctr"/>
          <a:lstStyle/>
          <a:p>
            <a:pPr indent="0" marL="0">
              <a:buNone/>
            </a:pPr>
            <a:r>
              <a:rPr lang="en-US" sz="3200" b="1" dirty="0">
                <a:solidFill>
                  <a:srgbClr val="F5A524"/>
                </a:solidFill>
                <a:latin typeface="Arial" pitchFamily="34" charset="0"/>
                <a:ea typeface="Arial" pitchFamily="34" charset="-122"/>
                <a:cs typeface="Arial" pitchFamily="34" charset="-120"/>
              </a:rPr>
              <a:t>0</a:t>
            </a:r>
            <a:endParaRPr lang="en-US" sz="3200" dirty="0"/>
          </a:p>
        </p:txBody>
      </p:sp>
      <p:sp>
        <p:nvSpPr>
          <p:cNvPr id="27" name="Text 22"/>
          <p:cNvSpPr txBox="1"/>
          <p:nvPr/>
        </p:nvSpPr>
        <p:spPr>
          <a:xfrm>
            <a:off x="5120640" y="3154680"/>
            <a:ext cx="173736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uses of Any (mypy --strict)</a:t>
            </a:r>
            <a:endParaRPr lang="en-US" sz="1200" dirty="0"/>
          </a:p>
        </p:txBody>
      </p:sp>
      <p:sp>
        <p:nvSpPr>
          <p:cNvPr id="28" name="Text 23"/>
          <p:cNvSpPr txBox="1"/>
          <p:nvPr/>
        </p:nvSpPr>
        <p:spPr>
          <a:xfrm>
            <a:off x="6949440" y="2560320"/>
            <a:ext cx="1737360" cy="594360"/>
          </a:xfrm>
          <a:prstGeom prst="rect">
            <a:avLst/>
          </a:prstGeom>
          <a:noFill/>
          <a:ln/>
        </p:spPr>
        <p:txBody>
          <a:bodyPr wrap="square" lIns="0" tIns="0" rIns="0" bIns="0" rtlCol="0" anchor="ctr"/>
          <a:lstStyle/>
          <a:p>
            <a:pPr indent="0" marL="0">
              <a:buNone/>
            </a:pPr>
            <a:r>
              <a:rPr lang="en-US" sz="3200" b="1" dirty="0">
                <a:solidFill>
                  <a:srgbClr val="14B8A6"/>
                </a:solidFill>
                <a:latin typeface="Arial" pitchFamily="34" charset="0"/>
                <a:ea typeface="Arial" pitchFamily="34" charset="-122"/>
                <a:cs typeface="Arial" pitchFamily="34" charset="-120"/>
              </a:rPr>
              <a:t>&lt;200</a:t>
            </a:r>
            <a:endParaRPr lang="en-US" sz="3200" dirty="0"/>
          </a:p>
        </p:txBody>
      </p:sp>
      <p:sp>
        <p:nvSpPr>
          <p:cNvPr id="29" name="Text 24"/>
          <p:cNvSpPr txBox="1"/>
          <p:nvPr/>
        </p:nvSpPr>
        <p:spPr>
          <a:xfrm>
            <a:off x="6949440" y="3154680"/>
            <a:ext cx="173736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lines per file</a:t>
            </a:r>
            <a:endParaRPr lang="en-US" sz="1200" dirty="0"/>
          </a:p>
        </p:txBody>
      </p:sp>
      <p:sp>
        <p:nvSpPr>
          <p:cNvPr id="30" name="Text 25"/>
          <p:cNvSpPr txBox="1"/>
          <p:nvPr/>
        </p:nvSpPr>
        <p:spPr>
          <a:xfrm>
            <a:off x="5120640" y="3840480"/>
            <a:ext cx="3566160" cy="68580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All external systems are mocked in the PoC; real integrations only need a different injected implementation.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ADVANTAGES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Why teams should use it</a:t>
            </a:r>
            <a:endParaRPr lang="en-US" sz="2800" dirty="0"/>
          </a:p>
        </p:txBody>
      </p:sp>
      <p:sp>
        <p:nvSpPr>
          <p:cNvPr id="4" name="Shape 2"/>
          <p:cNvSpPr/>
          <p:nvPr/>
        </p:nvSpPr>
        <p:spPr>
          <a:xfrm>
            <a:off x="457200" y="1280160"/>
            <a:ext cx="2651760" cy="1399032"/>
          </a:xfrm>
          <a:prstGeom prst="roundRect">
            <a:avLst>
              <a:gd name="adj" fmla="val 6536"/>
            </a:avLst>
          </a:prstGeom>
          <a:solidFill>
            <a:srgbClr val="1B2A41"/>
          </a:solidFill>
          <a:ln w="12700">
            <a:solidFill>
              <a:srgbClr val="1B2A41"/>
            </a:solidFill>
            <a:prstDash val="solid"/>
          </a:ln>
        </p:spPr>
      </p:sp>
      <p:sp>
        <p:nvSpPr>
          <p:cNvPr id="5" name="Shape 3"/>
          <p:cNvSpPr/>
          <p:nvPr/>
        </p:nvSpPr>
        <p:spPr>
          <a:xfrm>
            <a:off x="621792" y="1444752"/>
            <a:ext cx="457200" cy="457200"/>
          </a:xfrm>
          <a:prstGeom prst="roundRect">
            <a:avLst>
              <a:gd name="adj" fmla="val 24000"/>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740664" y="1563624"/>
            <a:ext cx="219456" cy="219456"/>
          </a:xfrm>
          <a:prstGeom prst="rect">
            <a:avLst/>
          </a:prstGeom>
        </p:spPr>
      </p:pic>
      <p:sp>
        <p:nvSpPr>
          <p:cNvPr id="7" name="Text 4"/>
          <p:cNvSpPr txBox="1"/>
          <p:nvPr/>
        </p:nvSpPr>
        <p:spPr>
          <a:xfrm>
            <a:off x="1207008" y="1444752"/>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Repeatable, not yearly</a:t>
            </a:r>
            <a:endParaRPr lang="en-US" sz="1300" dirty="0"/>
          </a:p>
        </p:txBody>
      </p:sp>
      <p:sp>
        <p:nvSpPr>
          <p:cNvPr id="8" name="Text 5"/>
          <p:cNvSpPr txBox="1"/>
          <p:nvPr/>
        </p:nvSpPr>
        <p:spPr>
          <a:xfrm>
            <a:off x="621792" y="2011680"/>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Check readiness on every change or on a daily, weekly or monthly schedule, not once a year.</a:t>
            </a:r>
            <a:endParaRPr lang="en-US" sz="1100" dirty="0"/>
          </a:p>
        </p:txBody>
      </p:sp>
      <p:sp>
        <p:nvSpPr>
          <p:cNvPr id="9" name="Shape 6"/>
          <p:cNvSpPr/>
          <p:nvPr/>
        </p:nvSpPr>
        <p:spPr>
          <a:xfrm>
            <a:off x="3246120" y="1280160"/>
            <a:ext cx="2651760" cy="1399032"/>
          </a:xfrm>
          <a:prstGeom prst="roundRect">
            <a:avLst>
              <a:gd name="adj" fmla="val 6536"/>
            </a:avLst>
          </a:prstGeom>
          <a:solidFill>
            <a:srgbClr val="1B2A41"/>
          </a:solidFill>
          <a:ln w="12700">
            <a:solidFill>
              <a:srgbClr val="1B2A41"/>
            </a:solidFill>
            <a:prstDash val="solid"/>
          </a:ln>
        </p:spPr>
      </p:sp>
      <p:sp>
        <p:nvSpPr>
          <p:cNvPr id="10" name="Shape 7"/>
          <p:cNvSpPr/>
          <p:nvPr/>
        </p:nvSpPr>
        <p:spPr>
          <a:xfrm>
            <a:off x="3410712" y="1444752"/>
            <a:ext cx="457200" cy="457200"/>
          </a:xfrm>
          <a:prstGeom prst="roundRect">
            <a:avLst>
              <a:gd name="adj" fmla="val 24000"/>
            </a:avLst>
          </a:prstGeom>
          <a:solidFill>
            <a:srgbClr val="F5A524"/>
          </a:solidFill>
          <a:ln w="12700">
            <a:solidFill>
              <a:srgbClr val="F5A524"/>
            </a:solidFill>
            <a:prstDash val="solid"/>
          </a:ln>
        </p:spPr>
      </p:sp>
      <p:pic>
        <p:nvPicPr>
          <p:cNvPr id="11" name="Image 1" descr="preencoded.png">    </p:cNvPr>
          <p:cNvPicPr>
            <a:picLocks noChangeAspect="1"/>
          </p:cNvPicPr>
          <p:nvPr/>
        </p:nvPicPr>
        <p:blipFill>
          <a:blip r:embed="rId2"/>
          <a:stretch>
            <a:fillRect/>
          </a:stretch>
        </p:blipFill>
        <p:spPr>
          <a:xfrm>
            <a:off x="3529584" y="1563624"/>
            <a:ext cx="219456" cy="219456"/>
          </a:xfrm>
          <a:prstGeom prst="rect">
            <a:avLst/>
          </a:prstGeom>
        </p:spPr>
      </p:pic>
      <p:sp>
        <p:nvSpPr>
          <p:cNvPr id="12" name="Text 8"/>
          <p:cNvSpPr txBox="1"/>
          <p:nvPr/>
        </p:nvSpPr>
        <p:spPr>
          <a:xfrm>
            <a:off x="3995928" y="1444752"/>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Finds problems early</a:t>
            </a:r>
            <a:endParaRPr lang="en-US" sz="1300" dirty="0"/>
          </a:p>
        </p:txBody>
      </p:sp>
      <p:sp>
        <p:nvSpPr>
          <p:cNvPr id="13" name="Text 9"/>
          <p:cNvSpPr txBox="1"/>
          <p:nvPr/>
        </p:nvSpPr>
        <p:spPr>
          <a:xfrm>
            <a:off x="3410712" y="2011680"/>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Unhealthy dependencies, single points of failure, gaps and missed RTOs show up before the outage.</a:t>
            </a:r>
            <a:endParaRPr lang="en-US" sz="1100" dirty="0"/>
          </a:p>
        </p:txBody>
      </p:sp>
      <p:sp>
        <p:nvSpPr>
          <p:cNvPr id="14" name="Shape 10"/>
          <p:cNvSpPr/>
          <p:nvPr/>
        </p:nvSpPr>
        <p:spPr>
          <a:xfrm>
            <a:off x="6035040" y="1280160"/>
            <a:ext cx="2651760" cy="1399032"/>
          </a:xfrm>
          <a:prstGeom prst="roundRect">
            <a:avLst>
              <a:gd name="adj" fmla="val 6536"/>
            </a:avLst>
          </a:prstGeom>
          <a:solidFill>
            <a:srgbClr val="1B2A41"/>
          </a:solidFill>
          <a:ln w="12700">
            <a:solidFill>
              <a:srgbClr val="1B2A41"/>
            </a:solidFill>
            <a:prstDash val="solid"/>
          </a:ln>
        </p:spPr>
      </p:sp>
      <p:sp>
        <p:nvSpPr>
          <p:cNvPr id="15" name="Shape 11"/>
          <p:cNvSpPr/>
          <p:nvPr/>
        </p:nvSpPr>
        <p:spPr>
          <a:xfrm>
            <a:off x="6199632" y="1444752"/>
            <a:ext cx="457200" cy="457200"/>
          </a:xfrm>
          <a:prstGeom prst="roundRect">
            <a:avLst>
              <a:gd name="adj" fmla="val 24000"/>
            </a:avLst>
          </a:prstGeom>
          <a:solidFill>
            <a:srgbClr val="334155"/>
          </a:solidFill>
          <a:ln w="12700">
            <a:solidFill>
              <a:srgbClr val="334155"/>
            </a:solidFill>
            <a:prstDash val="solid"/>
          </a:ln>
        </p:spPr>
      </p:sp>
      <p:pic>
        <p:nvPicPr>
          <p:cNvPr id="16" name="Image 2" descr="preencoded.png">    </p:cNvPr>
          <p:cNvPicPr>
            <a:picLocks noChangeAspect="1"/>
          </p:cNvPicPr>
          <p:nvPr/>
        </p:nvPicPr>
        <p:blipFill>
          <a:blip r:embed="rId3"/>
          <a:stretch>
            <a:fillRect/>
          </a:stretch>
        </p:blipFill>
        <p:spPr>
          <a:xfrm>
            <a:off x="6318504" y="1563624"/>
            <a:ext cx="219456" cy="219456"/>
          </a:xfrm>
          <a:prstGeom prst="rect">
            <a:avLst/>
          </a:prstGeom>
        </p:spPr>
      </p:pic>
      <p:sp>
        <p:nvSpPr>
          <p:cNvPr id="17" name="Text 12"/>
          <p:cNvSpPr txBox="1"/>
          <p:nvPr/>
        </p:nvSpPr>
        <p:spPr>
          <a:xfrm>
            <a:off x="6784848" y="1444752"/>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Numbers you can trust</a:t>
            </a:r>
            <a:endParaRPr lang="en-US" sz="1300" dirty="0"/>
          </a:p>
        </p:txBody>
      </p:sp>
      <p:sp>
        <p:nvSpPr>
          <p:cNvPr id="18" name="Text 13"/>
          <p:cNvSpPr txBox="1"/>
          <p:nvPr/>
        </p:nvSpPr>
        <p:spPr>
          <a:xfrm>
            <a:off x="6199632" y="2011680"/>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Facts are computed in code and LLM output is schema-checked. Still works if the model is down.</a:t>
            </a:r>
            <a:endParaRPr lang="en-US" sz="1100" dirty="0"/>
          </a:p>
        </p:txBody>
      </p:sp>
      <p:sp>
        <p:nvSpPr>
          <p:cNvPr id="19" name="Shape 14"/>
          <p:cNvSpPr/>
          <p:nvPr/>
        </p:nvSpPr>
        <p:spPr>
          <a:xfrm>
            <a:off x="457200" y="2816352"/>
            <a:ext cx="2651760" cy="1399032"/>
          </a:xfrm>
          <a:prstGeom prst="roundRect">
            <a:avLst>
              <a:gd name="adj" fmla="val 6536"/>
            </a:avLst>
          </a:prstGeom>
          <a:solidFill>
            <a:srgbClr val="1B2A41"/>
          </a:solidFill>
          <a:ln w="12700">
            <a:solidFill>
              <a:srgbClr val="1B2A41"/>
            </a:solidFill>
            <a:prstDash val="solid"/>
          </a:ln>
        </p:spPr>
      </p:sp>
      <p:sp>
        <p:nvSpPr>
          <p:cNvPr id="20" name="Shape 15"/>
          <p:cNvSpPr/>
          <p:nvPr/>
        </p:nvSpPr>
        <p:spPr>
          <a:xfrm>
            <a:off x="621792" y="2980944"/>
            <a:ext cx="457200" cy="457200"/>
          </a:xfrm>
          <a:prstGeom prst="roundRect">
            <a:avLst>
              <a:gd name="adj" fmla="val 24000"/>
            </a:avLst>
          </a:prstGeom>
          <a:solidFill>
            <a:srgbClr val="E5484D"/>
          </a:solidFill>
          <a:ln w="12700">
            <a:solidFill>
              <a:srgbClr val="E5484D"/>
            </a:solidFill>
            <a:prstDash val="solid"/>
          </a:ln>
        </p:spPr>
      </p:sp>
      <p:pic>
        <p:nvPicPr>
          <p:cNvPr id="21" name="Image 3" descr="preencoded.png">    </p:cNvPr>
          <p:cNvPicPr>
            <a:picLocks noChangeAspect="1"/>
          </p:cNvPicPr>
          <p:nvPr/>
        </p:nvPicPr>
        <p:blipFill>
          <a:blip r:embed="rId4"/>
          <a:stretch>
            <a:fillRect/>
          </a:stretch>
        </p:blipFill>
        <p:spPr>
          <a:xfrm>
            <a:off x="740664" y="3099816"/>
            <a:ext cx="219456" cy="219456"/>
          </a:xfrm>
          <a:prstGeom prst="rect">
            <a:avLst/>
          </a:prstGeom>
        </p:spPr>
      </p:pic>
      <p:sp>
        <p:nvSpPr>
          <p:cNvPr id="22" name="Text 16"/>
          <p:cNvSpPr txBox="1"/>
          <p:nvPr/>
        </p:nvSpPr>
        <p:spPr>
          <a:xfrm>
            <a:off x="1207008" y="2980944"/>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Safe automation</a:t>
            </a:r>
            <a:endParaRPr lang="en-US" sz="1300" dirty="0"/>
          </a:p>
        </p:txBody>
      </p:sp>
      <p:sp>
        <p:nvSpPr>
          <p:cNvPr id="23" name="Text 17"/>
          <p:cNvSpPr txBox="1"/>
          <p:nvPr/>
        </p:nvSpPr>
        <p:spPr>
          <a:xfrm>
            <a:off x="621792" y="3547872"/>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Named approvers, two-person rule, dry run, verify, rollback and a tamper-evident audit log.</a:t>
            </a:r>
            <a:endParaRPr lang="en-US" sz="1100" dirty="0"/>
          </a:p>
        </p:txBody>
      </p:sp>
      <p:sp>
        <p:nvSpPr>
          <p:cNvPr id="24" name="Shape 18"/>
          <p:cNvSpPr/>
          <p:nvPr/>
        </p:nvSpPr>
        <p:spPr>
          <a:xfrm>
            <a:off x="3246120" y="2816352"/>
            <a:ext cx="2651760" cy="1399032"/>
          </a:xfrm>
          <a:prstGeom prst="roundRect">
            <a:avLst>
              <a:gd name="adj" fmla="val 6536"/>
            </a:avLst>
          </a:prstGeom>
          <a:solidFill>
            <a:srgbClr val="1B2A41"/>
          </a:solidFill>
          <a:ln w="12700">
            <a:solidFill>
              <a:srgbClr val="1B2A41"/>
            </a:solidFill>
            <a:prstDash val="solid"/>
          </a:ln>
        </p:spPr>
      </p:sp>
      <p:sp>
        <p:nvSpPr>
          <p:cNvPr id="25" name="Shape 19"/>
          <p:cNvSpPr/>
          <p:nvPr/>
        </p:nvSpPr>
        <p:spPr>
          <a:xfrm>
            <a:off x="3410712" y="2980944"/>
            <a:ext cx="457200" cy="457200"/>
          </a:xfrm>
          <a:prstGeom prst="roundRect">
            <a:avLst>
              <a:gd name="adj" fmla="val 24000"/>
            </a:avLst>
          </a:prstGeom>
          <a:solidFill>
            <a:srgbClr val="14B8A6"/>
          </a:solidFill>
          <a:ln w="12700">
            <a:solidFill>
              <a:srgbClr val="14B8A6"/>
            </a:solidFill>
            <a:prstDash val="solid"/>
          </a:ln>
        </p:spPr>
      </p:sp>
      <p:pic>
        <p:nvPicPr>
          <p:cNvPr id="26" name="Image 4" descr="preencoded.png">    </p:cNvPr>
          <p:cNvPicPr>
            <a:picLocks noChangeAspect="1"/>
          </p:cNvPicPr>
          <p:nvPr/>
        </p:nvPicPr>
        <p:blipFill>
          <a:blip r:embed="rId5"/>
          <a:stretch>
            <a:fillRect/>
          </a:stretch>
        </p:blipFill>
        <p:spPr>
          <a:xfrm>
            <a:off x="3529584" y="3099816"/>
            <a:ext cx="219456" cy="219456"/>
          </a:xfrm>
          <a:prstGeom prst="rect">
            <a:avLst/>
          </a:prstGeom>
        </p:spPr>
      </p:pic>
      <p:sp>
        <p:nvSpPr>
          <p:cNvPr id="27" name="Text 20"/>
          <p:cNvSpPr txBox="1"/>
          <p:nvPr/>
        </p:nvSpPr>
        <p:spPr>
          <a:xfrm>
            <a:off x="3995928" y="2980944"/>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Learns from real runs</a:t>
            </a:r>
            <a:endParaRPr lang="en-US" sz="1300" dirty="0"/>
          </a:p>
        </p:txBody>
      </p:sp>
      <p:sp>
        <p:nvSpPr>
          <p:cNvPr id="28" name="Text 21"/>
          <p:cNvSpPr txBox="1"/>
          <p:nvPr/>
        </p:nvSpPr>
        <p:spPr>
          <a:xfrm>
            <a:off x="3410712" y="3547872"/>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Measured outcomes of past runs feed new analyses as historical gaps and insights.</a:t>
            </a:r>
            <a:endParaRPr lang="en-US" sz="1100" dirty="0"/>
          </a:p>
        </p:txBody>
      </p:sp>
      <p:sp>
        <p:nvSpPr>
          <p:cNvPr id="29" name="Shape 22"/>
          <p:cNvSpPr/>
          <p:nvPr/>
        </p:nvSpPr>
        <p:spPr>
          <a:xfrm>
            <a:off x="6035040" y="2816352"/>
            <a:ext cx="2651760" cy="1399032"/>
          </a:xfrm>
          <a:prstGeom prst="roundRect">
            <a:avLst>
              <a:gd name="adj" fmla="val 6536"/>
            </a:avLst>
          </a:prstGeom>
          <a:solidFill>
            <a:srgbClr val="1B2A41"/>
          </a:solidFill>
          <a:ln w="12700">
            <a:solidFill>
              <a:srgbClr val="1B2A41"/>
            </a:solidFill>
            <a:prstDash val="solid"/>
          </a:ln>
        </p:spPr>
      </p:sp>
      <p:sp>
        <p:nvSpPr>
          <p:cNvPr id="30" name="Shape 23"/>
          <p:cNvSpPr/>
          <p:nvPr/>
        </p:nvSpPr>
        <p:spPr>
          <a:xfrm>
            <a:off x="6199632" y="2980944"/>
            <a:ext cx="457200" cy="457200"/>
          </a:xfrm>
          <a:prstGeom prst="roundRect">
            <a:avLst>
              <a:gd name="adj" fmla="val 24000"/>
            </a:avLst>
          </a:prstGeom>
          <a:solidFill>
            <a:srgbClr val="F5A524"/>
          </a:solidFill>
          <a:ln w="12700">
            <a:solidFill>
              <a:srgbClr val="F5A524"/>
            </a:solidFill>
            <a:prstDash val="solid"/>
          </a:ln>
        </p:spPr>
      </p:sp>
      <p:pic>
        <p:nvPicPr>
          <p:cNvPr id="31" name="Image 5" descr="preencoded.png">    </p:cNvPr>
          <p:cNvPicPr>
            <a:picLocks noChangeAspect="1"/>
          </p:cNvPicPr>
          <p:nvPr/>
        </p:nvPicPr>
        <p:blipFill>
          <a:blip r:embed="rId6"/>
          <a:stretch>
            <a:fillRect/>
          </a:stretch>
        </p:blipFill>
        <p:spPr>
          <a:xfrm>
            <a:off x="6318504" y="3099816"/>
            <a:ext cx="219456" cy="219456"/>
          </a:xfrm>
          <a:prstGeom prst="rect">
            <a:avLst/>
          </a:prstGeom>
        </p:spPr>
      </p:pic>
      <p:sp>
        <p:nvSpPr>
          <p:cNvPr id="32" name="Text 24"/>
          <p:cNvSpPr txBox="1"/>
          <p:nvPr/>
        </p:nvSpPr>
        <p:spPr>
          <a:xfrm>
            <a:off x="6784848" y="2980944"/>
            <a:ext cx="17830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Private, no lock-in</a:t>
            </a:r>
            <a:endParaRPr lang="en-US" sz="1300" dirty="0"/>
          </a:p>
        </p:txBody>
      </p:sp>
      <p:sp>
        <p:nvSpPr>
          <p:cNvPr id="33" name="Text 25"/>
          <p:cNvSpPr txBox="1"/>
          <p:nvPr/>
        </p:nvSpPr>
        <p:spPr>
          <a:xfrm>
            <a:off x="6199632" y="3547872"/>
            <a:ext cx="2377440" cy="5943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Open source. Local LLM keeps data in-house, or plug in any OpenAI-compatible API or real system.</a:t>
            </a:r>
            <a:endParaRPr lang="en-US" sz="1100" dirty="0"/>
          </a:p>
        </p:txBody>
      </p:sp>
      <p:sp>
        <p:nvSpPr>
          <p:cNvPr id="34" name="Text 26"/>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250" b="1" dirty="0">
                <a:solidFill>
                  <a:srgbClr val="F5A524"/>
                </a:solidFill>
                <a:latin typeface="Calibri" pitchFamily="34" charset="0"/>
                <a:ea typeface="Calibri" pitchFamily="34" charset="-122"/>
                <a:cs typeface="Calibri" pitchFamily="34" charset="-120"/>
              </a:rPr>
              <a:t>Built for  </a:t>
            </a:r>
            <a:pPr indent="0" marL="0">
              <a:buNone/>
            </a:pPr>
            <a:r>
              <a:rPr lang="en-US" sz="1250" dirty="0">
                <a:solidFill>
                  <a:srgbClr val="FFFFFF"/>
                </a:solidFill>
                <a:latin typeface="Calibri" pitchFamily="34" charset="0"/>
                <a:ea typeface="Calibri" pitchFamily="34" charset="-122"/>
                <a:cs typeface="Calibri" pitchFamily="34" charset="-120"/>
              </a:rPr>
              <a:t>SREs  ·  Engineering managers  ·  Compliance teams (JSON / HTML reports as audit evidence)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SECURITY GUARDRAILS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Untrusted in, validated out, approved by people</a:t>
            </a:r>
            <a:endParaRPr lang="en-US" sz="2800" dirty="0"/>
          </a:p>
        </p:txBody>
      </p:sp>
      <p:sp>
        <p:nvSpPr>
          <p:cNvPr id="4" name="Shape 2"/>
          <p:cNvSpPr/>
          <p:nvPr/>
        </p:nvSpPr>
        <p:spPr>
          <a:xfrm>
            <a:off x="457200" y="1280160"/>
            <a:ext cx="2651760" cy="2240280"/>
          </a:xfrm>
          <a:prstGeom prst="roundRect">
            <a:avLst>
              <a:gd name="adj" fmla="val 3265"/>
            </a:avLst>
          </a:prstGeom>
          <a:solidFill>
            <a:srgbClr val="1B2A41"/>
          </a:solidFill>
          <a:ln w="12700">
            <a:solidFill>
              <a:srgbClr val="1B2A41"/>
            </a:solidFill>
            <a:prstDash val="solid"/>
          </a:ln>
        </p:spPr>
      </p:sp>
      <p:sp>
        <p:nvSpPr>
          <p:cNvPr id="5" name="Shape 3"/>
          <p:cNvSpPr/>
          <p:nvPr/>
        </p:nvSpPr>
        <p:spPr>
          <a:xfrm>
            <a:off x="621792" y="1444752"/>
            <a:ext cx="457200" cy="457200"/>
          </a:xfrm>
          <a:prstGeom prst="roundRect">
            <a:avLst>
              <a:gd name="adj" fmla="val 24000"/>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740664" y="1563624"/>
            <a:ext cx="219456" cy="219456"/>
          </a:xfrm>
          <a:prstGeom prst="rect">
            <a:avLst/>
          </a:prstGeom>
        </p:spPr>
      </p:pic>
      <p:sp>
        <p:nvSpPr>
          <p:cNvPr id="7" name="Text 4"/>
          <p:cNvSpPr txBox="1"/>
          <p:nvPr/>
        </p:nvSpPr>
        <p:spPr>
          <a:xfrm>
            <a:off x="1216152" y="1444752"/>
            <a:ext cx="173736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Prompt injection</a:t>
            </a:r>
            <a:endParaRPr lang="en-US" sz="1300" dirty="0"/>
          </a:p>
        </p:txBody>
      </p:sp>
      <p:sp>
        <p:nvSpPr>
          <p:cNvPr id="8" name="Text 5"/>
          <p:cNvSpPr txBox="1"/>
          <p:nvPr/>
        </p:nvSpPr>
        <p:spPr>
          <a:xfrm>
            <a:off x="621792" y="2057400"/>
            <a:ext cx="2322576" cy="13258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Runbook, history and tool text are declared untrusted data in the system prompt</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&lt; &gt; &amp; are escaped, so text can never close its &lt;runbook&gt; tag</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Only allow-listed, code-measured history facts reach a prompt</a:t>
            </a:r>
            <a:endParaRPr lang="en-US" sz="1100" dirty="0"/>
          </a:p>
        </p:txBody>
      </p:sp>
      <p:sp>
        <p:nvSpPr>
          <p:cNvPr id="9" name="Shape 6"/>
          <p:cNvSpPr/>
          <p:nvPr/>
        </p:nvSpPr>
        <p:spPr>
          <a:xfrm>
            <a:off x="3246120" y="1280160"/>
            <a:ext cx="2651760" cy="2240280"/>
          </a:xfrm>
          <a:prstGeom prst="roundRect">
            <a:avLst>
              <a:gd name="adj" fmla="val 3265"/>
            </a:avLst>
          </a:prstGeom>
          <a:solidFill>
            <a:srgbClr val="1B2A41"/>
          </a:solidFill>
          <a:ln w="12700">
            <a:solidFill>
              <a:srgbClr val="1B2A41"/>
            </a:solidFill>
            <a:prstDash val="solid"/>
          </a:ln>
        </p:spPr>
      </p:sp>
      <p:sp>
        <p:nvSpPr>
          <p:cNvPr id="10" name="Shape 7"/>
          <p:cNvSpPr/>
          <p:nvPr/>
        </p:nvSpPr>
        <p:spPr>
          <a:xfrm>
            <a:off x="3410712" y="1444752"/>
            <a:ext cx="457200" cy="457200"/>
          </a:xfrm>
          <a:prstGeom prst="roundRect">
            <a:avLst>
              <a:gd name="adj" fmla="val 24000"/>
            </a:avLst>
          </a:prstGeom>
          <a:solidFill>
            <a:srgbClr val="F5A524"/>
          </a:solidFill>
          <a:ln w="12700">
            <a:solidFill>
              <a:srgbClr val="F5A524"/>
            </a:solidFill>
            <a:prstDash val="solid"/>
          </a:ln>
        </p:spPr>
      </p:sp>
      <p:pic>
        <p:nvPicPr>
          <p:cNvPr id="11" name="Image 1" descr="preencoded.png">    </p:cNvPr>
          <p:cNvPicPr>
            <a:picLocks noChangeAspect="1"/>
          </p:cNvPicPr>
          <p:nvPr/>
        </p:nvPicPr>
        <p:blipFill>
          <a:blip r:embed="rId2"/>
          <a:stretch>
            <a:fillRect/>
          </a:stretch>
        </p:blipFill>
        <p:spPr>
          <a:xfrm>
            <a:off x="3529584" y="1563624"/>
            <a:ext cx="219456" cy="219456"/>
          </a:xfrm>
          <a:prstGeom prst="rect">
            <a:avLst/>
          </a:prstGeom>
        </p:spPr>
      </p:pic>
      <p:sp>
        <p:nvSpPr>
          <p:cNvPr id="12" name="Text 8"/>
          <p:cNvSpPr txBox="1"/>
          <p:nvPr/>
        </p:nvSpPr>
        <p:spPr>
          <a:xfrm>
            <a:off x="4005072" y="1444752"/>
            <a:ext cx="173736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 output</a:t>
            </a:r>
            <a:endParaRPr lang="en-US" sz="1300" dirty="0"/>
          </a:p>
        </p:txBody>
      </p:sp>
      <p:sp>
        <p:nvSpPr>
          <p:cNvPr id="13" name="Text 9"/>
          <p:cNvSpPr txBox="1"/>
          <p:nvPr/>
        </p:nvSpPr>
        <p:spPr>
          <a:xfrm>
            <a:off x="3410712" y="2057400"/>
            <a:ext cx="2322576" cy="13258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Every reply must pass a Pydantic schema or it is rejected</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RTO, gaps and fallback risk score come from code; rules-only if the model fails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A proposal naming a non-allow-listed tool becomes a manual step</a:t>
            </a:r>
            <a:endParaRPr lang="en-US" sz="1100" dirty="0"/>
          </a:p>
        </p:txBody>
      </p:sp>
      <p:sp>
        <p:nvSpPr>
          <p:cNvPr id="14" name="Shape 10"/>
          <p:cNvSpPr/>
          <p:nvPr/>
        </p:nvSpPr>
        <p:spPr>
          <a:xfrm>
            <a:off x="6035040" y="1280160"/>
            <a:ext cx="2651760" cy="2240280"/>
          </a:xfrm>
          <a:prstGeom prst="roundRect">
            <a:avLst>
              <a:gd name="adj" fmla="val 3265"/>
            </a:avLst>
          </a:prstGeom>
          <a:solidFill>
            <a:srgbClr val="1B2A41"/>
          </a:solidFill>
          <a:ln w="12700">
            <a:solidFill>
              <a:srgbClr val="1B2A41"/>
            </a:solidFill>
            <a:prstDash val="solid"/>
          </a:ln>
        </p:spPr>
      </p:sp>
      <p:sp>
        <p:nvSpPr>
          <p:cNvPr id="15" name="Shape 11"/>
          <p:cNvSpPr/>
          <p:nvPr/>
        </p:nvSpPr>
        <p:spPr>
          <a:xfrm>
            <a:off x="6199632" y="1444752"/>
            <a:ext cx="457200" cy="457200"/>
          </a:xfrm>
          <a:prstGeom prst="roundRect">
            <a:avLst>
              <a:gd name="adj" fmla="val 24000"/>
            </a:avLst>
          </a:prstGeom>
          <a:solidFill>
            <a:srgbClr val="E5484D"/>
          </a:solidFill>
          <a:ln w="12700">
            <a:solidFill>
              <a:srgbClr val="E5484D"/>
            </a:solidFill>
            <a:prstDash val="solid"/>
          </a:ln>
        </p:spPr>
      </p:sp>
      <p:pic>
        <p:nvPicPr>
          <p:cNvPr id="16" name="Image 2" descr="preencoded.png">    </p:cNvPr>
          <p:cNvPicPr>
            <a:picLocks noChangeAspect="1"/>
          </p:cNvPicPr>
          <p:nvPr/>
        </p:nvPicPr>
        <p:blipFill>
          <a:blip r:embed="rId3"/>
          <a:stretch>
            <a:fillRect/>
          </a:stretch>
        </p:blipFill>
        <p:spPr>
          <a:xfrm>
            <a:off x="6318504" y="1563624"/>
            <a:ext cx="219456" cy="219456"/>
          </a:xfrm>
          <a:prstGeom prst="rect">
            <a:avLst/>
          </a:prstGeom>
        </p:spPr>
      </p:pic>
      <p:sp>
        <p:nvSpPr>
          <p:cNvPr id="17" name="Text 12"/>
          <p:cNvSpPr txBox="1"/>
          <p:nvPr/>
        </p:nvSpPr>
        <p:spPr>
          <a:xfrm>
            <a:off x="6793992" y="1444752"/>
            <a:ext cx="173736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Execution</a:t>
            </a:r>
            <a:endParaRPr lang="en-US" sz="1300" dirty="0"/>
          </a:p>
        </p:txBody>
      </p:sp>
      <p:sp>
        <p:nvSpPr>
          <p:cNvPr id="18" name="Text 13"/>
          <p:cNvSpPr txBox="1"/>
          <p:nvPr/>
        </p:nvSpPr>
        <p:spPr>
          <a:xfrm>
            <a:off x="6199632" y="2057400"/>
            <a:ext cx="2322576" cy="13258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Off by default, dry run before live</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Tool allow-list, JSON Schema and policy checks, no shell tool</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Approval bound to the call hash; two people for destructive calls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Call limits, timeouts and abort</a:t>
            </a:r>
            <a:endParaRPr lang="en-US" sz="1100" dirty="0"/>
          </a:p>
        </p:txBody>
      </p:sp>
      <p:sp>
        <p:nvSpPr>
          <p:cNvPr id="19" name="Shape 14"/>
          <p:cNvSpPr/>
          <p:nvPr/>
        </p:nvSpPr>
        <p:spPr>
          <a:xfrm>
            <a:off x="457200" y="3657600"/>
            <a:ext cx="8229600" cy="548640"/>
          </a:xfrm>
          <a:prstGeom prst="roundRect">
            <a:avLst>
              <a:gd name="adj" fmla="val 13333"/>
            </a:avLst>
          </a:prstGeom>
          <a:solidFill>
            <a:srgbClr val="1B2A41"/>
          </a:solidFill>
          <a:ln w="12700">
            <a:solidFill>
              <a:srgbClr val="1B2A41"/>
            </a:solidFill>
            <a:prstDash val="solid"/>
          </a:ln>
        </p:spPr>
      </p:sp>
      <p:sp>
        <p:nvSpPr>
          <p:cNvPr id="20" name="Shape 15"/>
          <p:cNvSpPr/>
          <p:nvPr/>
        </p:nvSpPr>
        <p:spPr>
          <a:xfrm>
            <a:off x="566928" y="3730752"/>
            <a:ext cx="402336" cy="402336"/>
          </a:xfrm>
          <a:prstGeom prst="roundRect">
            <a:avLst>
              <a:gd name="adj" fmla="val 22727"/>
            </a:avLst>
          </a:prstGeom>
          <a:solidFill>
            <a:srgbClr val="334155"/>
          </a:solidFill>
          <a:ln w="12700">
            <a:solidFill>
              <a:srgbClr val="334155"/>
            </a:solidFill>
            <a:prstDash val="solid"/>
          </a:ln>
        </p:spPr>
      </p:sp>
      <p:pic>
        <p:nvPicPr>
          <p:cNvPr id="21" name="Image 3" descr="preencoded.png">    </p:cNvPr>
          <p:cNvPicPr>
            <a:picLocks noChangeAspect="1"/>
          </p:cNvPicPr>
          <p:nvPr/>
        </p:nvPicPr>
        <p:blipFill>
          <a:blip r:embed="rId4"/>
          <a:stretch>
            <a:fillRect/>
          </a:stretch>
        </p:blipFill>
        <p:spPr>
          <a:xfrm>
            <a:off x="667512" y="3831336"/>
            <a:ext cx="201168" cy="201168"/>
          </a:xfrm>
          <a:prstGeom prst="rect">
            <a:avLst/>
          </a:prstGeom>
        </p:spPr>
      </p:pic>
      <p:sp>
        <p:nvSpPr>
          <p:cNvPr id="22" name="Text 16"/>
          <p:cNvSpPr txBox="1"/>
          <p:nvPr/>
        </p:nvSpPr>
        <p:spPr>
          <a:xfrm>
            <a:off x="1097280" y="3657600"/>
            <a:ext cx="7498080" cy="548640"/>
          </a:xfrm>
          <a:prstGeom prst="rect">
            <a:avLst/>
          </a:prstGeom>
          <a:noFill/>
          <a:ln/>
        </p:spPr>
        <p:txBody>
          <a:bodyPr wrap="square" lIns="0" tIns="0" rIns="0" bIns="0" rtlCol="0" anchor="ctr"/>
          <a:lstStyle/>
          <a:p>
            <a:pPr indent="0" marL="0">
              <a:buNone/>
            </a:pPr>
            <a:r>
              <a:rPr lang="en-US" sz="1150" b="1" dirty="0">
                <a:solidFill>
                  <a:srgbClr val="F5A524"/>
                </a:solidFill>
                <a:latin typeface="Calibri" pitchFamily="34" charset="0"/>
                <a:ea typeface="Calibri" pitchFamily="34" charset="-122"/>
                <a:cs typeface="Calibri" pitchFamily="34" charset="-120"/>
              </a:rPr>
              <a:t>Platform  </a:t>
            </a:r>
            <a:pPr indent="0" marL="0">
              <a:buNone/>
            </a:pPr>
            <a:r>
              <a:rPr lang="en-US" sz="1150" dirty="0">
                <a:solidFill>
                  <a:srgbClr val="FFFFFF"/>
                </a:solidFill>
                <a:latin typeface="Calibri" pitchFamily="34" charset="0"/>
                <a:ea typeface="Calibri" pitchFamily="34" charset="-122"/>
                <a:cs typeface="Calibri" pitchFamily="34" charset="-120"/>
              </a:rPr>
              <a:t>Path allow-list  ·  1 MB upload cap  ·  autoescaped HTML + CSP  ·  secrets redacted in logs  ·  read-only containers, internal-only MCP network</a:t>
            </a:r>
            <a:endParaRPr lang="en-US" sz="1150" dirty="0"/>
          </a:p>
        </p:txBody>
      </p:sp>
      <p:sp>
        <p:nvSpPr>
          <p:cNvPr id="23" name="Text 17"/>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PoC gaps: no API authentication, approver names are self-declared, no rate limiting.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Arial" pitchFamily="34" charset="0"/>
                <a:ea typeface="Arial" pitchFamily="34" charset="-122"/>
                <a:cs typeface="Arial" pitchFamily="34" charset="-120"/>
              </a:rPr>
              <a:t>SCHEDULED ANALYSIS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Scheduled checks, facts emailed to owners</a:t>
            </a:r>
            <a:endParaRPr lang="en-US" sz="2800" dirty="0"/>
          </a:p>
        </p:txBody>
      </p:sp>
      <p:sp>
        <p:nvSpPr>
          <p:cNvPr id="4" name="Shape 2"/>
          <p:cNvSpPr/>
          <p:nvPr/>
        </p:nvSpPr>
        <p:spPr>
          <a:xfrm>
            <a:off x="868680" y="1371600"/>
            <a:ext cx="640080" cy="640080"/>
          </a:xfrm>
          <a:prstGeom prst="roundRect">
            <a:avLst>
              <a:gd name="adj" fmla="val 17143"/>
            </a:avLst>
          </a:prstGeom>
          <a:solidFill>
            <a:srgbClr val="334155"/>
          </a:solidFill>
          <a:ln w="12700">
            <a:solidFill>
              <a:srgbClr val="334155"/>
            </a:solidFill>
            <a:prstDash val="solid"/>
          </a:ln>
        </p:spPr>
      </p:sp>
      <p:pic>
        <p:nvPicPr>
          <p:cNvPr id="5" name="Image 0" descr="calendar icon">    </p:cNvPr>
          <p:cNvPicPr>
            <a:picLocks noChangeAspect="1"/>
          </p:cNvPicPr>
          <p:nvPr/>
        </p:nvPicPr>
        <p:blipFill>
          <a:blip r:embed="rId1"/>
          <a:stretch>
            <a:fillRect/>
          </a:stretch>
        </p:blipFill>
        <p:spPr>
          <a:xfrm>
            <a:off x="1035101" y="1538021"/>
            <a:ext cx="307238" cy="307238"/>
          </a:xfrm>
          <a:prstGeom prst="rect">
            <a:avLst/>
          </a:prstGeom>
        </p:spPr>
      </p:pic>
      <p:sp>
        <p:nvSpPr>
          <p:cNvPr id="6" name="Text 3"/>
          <p:cNvSpPr txBox="1"/>
          <p:nvPr/>
        </p:nvSpPr>
        <p:spPr>
          <a:xfrm>
            <a:off x="457200"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Schedule</a:t>
            </a:r>
            <a:endParaRPr lang="en-US" sz="1500" dirty="0"/>
          </a:p>
        </p:txBody>
      </p:sp>
      <p:sp>
        <p:nvSpPr>
          <p:cNvPr id="7" name="Text 4"/>
          <p:cNvSpPr txBox="1"/>
          <p:nvPr/>
        </p:nvSpPr>
        <p:spPr>
          <a:xfrm>
            <a:off x="457200"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Daily, weekly or monthly, at a set time in your timezone</a:t>
            </a:r>
            <a:endParaRPr lang="en-US" sz="1100" dirty="0"/>
          </a:p>
        </p:txBody>
      </p:sp>
      <p:sp>
        <p:nvSpPr>
          <p:cNvPr id="8" name="Shape 5"/>
          <p:cNvSpPr/>
          <p:nvPr/>
        </p:nvSpPr>
        <p:spPr>
          <a:xfrm>
            <a:off x="1645920" y="1691640"/>
            <a:ext cx="640080" cy="0"/>
          </a:xfrm>
          <a:prstGeom prst="line">
            <a:avLst/>
          </a:prstGeom>
          <a:noFill/>
          <a:ln w="19050">
            <a:solidFill>
              <a:srgbClr val="475569"/>
            </a:solidFill>
            <a:prstDash val="solid"/>
            <a:tailEnd type="triangle"/>
          </a:ln>
        </p:spPr>
      </p:sp>
      <p:sp>
        <p:nvSpPr>
          <p:cNvPr id="9" name="Shape 6"/>
          <p:cNvSpPr/>
          <p:nvPr/>
        </p:nvSpPr>
        <p:spPr>
          <a:xfrm>
            <a:off x="2551176" y="1371600"/>
            <a:ext cx="640080" cy="640080"/>
          </a:xfrm>
          <a:prstGeom prst="roundRect">
            <a:avLst>
              <a:gd name="adj" fmla="val 17143"/>
            </a:avLst>
          </a:prstGeom>
          <a:solidFill>
            <a:srgbClr val="F5A524"/>
          </a:solidFill>
          <a:ln w="12700">
            <a:solidFill>
              <a:srgbClr val="F5A524"/>
            </a:solidFill>
            <a:prstDash val="solid"/>
          </a:ln>
        </p:spPr>
      </p:sp>
      <p:pic>
        <p:nvPicPr>
          <p:cNvPr id="10" name="Image 1" descr="analyze icon">    </p:cNvPr>
          <p:cNvPicPr>
            <a:picLocks noChangeAspect="1"/>
          </p:cNvPicPr>
          <p:nvPr/>
        </p:nvPicPr>
        <p:blipFill>
          <a:blip r:embed="rId2"/>
          <a:stretch>
            <a:fillRect/>
          </a:stretch>
        </p:blipFill>
        <p:spPr>
          <a:xfrm>
            <a:off x="2717597" y="1538021"/>
            <a:ext cx="307238" cy="307238"/>
          </a:xfrm>
          <a:prstGeom prst="rect">
            <a:avLst/>
          </a:prstGeom>
        </p:spPr>
      </p:pic>
      <p:sp>
        <p:nvSpPr>
          <p:cNvPr id="11" name="Text 7"/>
          <p:cNvSpPr txBox="1"/>
          <p:nvPr/>
        </p:nvSpPr>
        <p:spPr>
          <a:xfrm>
            <a:off x="2139696"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Analyze</a:t>
            </a:r>
            <a:endParaRPr lang="en-US" sz="1500" dirty="0"/>
          </a:p>
        </p:txBody>
      </p:sp>
      <p:sp>
        <p:nvSpPr>
          <p:cNvPr id="12" name="Text 8"/>
          <p:cNvSpPr txBox="1"/>
          <p:nvPr/>
        </p:nvSpPr>
        <p:spPr>
          <a:xfrm>
            <a:off x="2139696"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Same engine as a manual run, rules only if the LLM is down</a:t>
            </a:r>
            <a:endParaRPr lang="en-US" sz="1100" dirty="0"/>
          </a:p>
        </p:txBody>
      </p:sp>
      <p:sp>
        <p:nvSpPr>
          <p:cNvPr id="13" name="Shape 9"/>
          <p:cNvSpPr/>
          <p:nvPr/>
        </p:nvSpPr>
        <p:spPr>
          <a:xfrm>
            <a:off x="3328416" y="1691640"/>
            <a:ext cx="640080" cy="0"/>
          </a:xfrm>
          <a:prstGeom prst="line">
            <a:avLst/>
          </a:prstGeom>
          <a:noFill/>
          <a:ln w="19050">
            <a:solidFill>
              <a:srgbClr val="475569"/>
            </a:solidFill>
            <a:prstDash val="solid"/>
            <a:tailEnd type="triangle"/>
          </a:ln>
        </p:spPr>
      </p:sp>
      <p:sp>
        <p:nvSpPr>
          <p:cNvPr id="14" name="Shape 10"/>
          <p:cNvSpPr/>
          <p:nvPr/>
        </p:nvSpPr>
        <p:spPr>
          <a:xfrm>
            <a:off x="4233672" y="1371600"/>
            <a:ext cx="640080" cy="640080"/>
          </a:xfrm>
          <a:prstGeom prst="roundRect">
            <a:avLst>
              <a:gd name="adj" fmla="val 17143"/>
            </a:avLst>
          </a:prstGeom>
          <a:solidFill>
            <a:srgbClr val="14B8A6"/>
          </a:solidFill>
          <a:ln w="12700">
            <a:solidFill>
              <a:srgbClr val="14B8A6"/>
            </a:solidFill>
            <a:prstDash val="solid"/>
          </a:ln>
        </p:spPr>
      </p:sp>
      <p:pic>
        <p:nvPicPr>
          <p:cNvPr id="15" name="Image 2" descr="history icon">    </p:cNvPr>
          <p:cNvPicPr>
            <a:picLocks noChangeAspect="1"/>
          </p:cNvPicPr>
          <p:nvPr/>
        </p:nvPicPr>
        <p:blipFill>
          <a:blip r:embed="rId3"/>
          <a:stretch>
            <a:fillRect/>
          </a:stretch>
        </p:blipFill>
        <p:spPr>
          <a:xfrm>
            <a:off x="4400093" y="1538021"/>
            <a:ext cx="307238" cy="307238"/>
          </a:xfrm>
          <a:prstGeom prst="rect">
            <a:avLst/>
          </a:prstGeom>
        </p:spPr>
      </p:pic>
      <p:sp>
        <p:nvSpPr>
          <p:cNvPr id="16" name="Text 11"/>
          <p:cNvSpPr txBox="1"/>
          <p:nvPr/>
        </p:nvSpPr>
        <p:spPr>
          <a:xfrm>
            <a:off x="3822192"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Store</a:t>
            </a:r>
            <a:endParaRPr lang="en-US" sz="1500" dirty="0"/>
          </a:p>
        </p:txBody>
      </p:sp>
      <p:sp>
        <p:nvSpPr>
          <p:cNvPr id="17" name="Text 12"/>
          <p:cNvSpPr txBox="1"/>
          <p:nvPr/>
        </p:nvSpPr>
        <p:spPr>
          <a:xfrm>
            <a:off x="3822192"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Saved to history with its runbook and report</a:t>
            </a:r>
            <a:endParaRPr lang="en-US" sz="1100" dirty="0"/>
          </a:p>
        </p:txBody>
      </p:sp>
      <p:sp>
        <p:nvSpPr>
          <p:cNvPr id="18" name="Shape 13"/>
          <p:cNvSpPr/>
          <p:nvPr/>
        </p:nvSpPr>
        <p:spPr>
          <a:xfrm>
            <a:off x="5010912" y="1691640"/>
            <a:ext cx="640080" cy="0"/>
          </a:xfrm>
          <a:prstGeom prst="line">
            <a:avLst/>
          </a:prstGeom>
          <a:noFill/>
          <a:ln w="19050">
            <a:solidFill>
              <a:srgbClr val="475569"/>
            </a:solidFill>
            <a:prstDash val="solid"/>
            <a:tailEnd type="triangle"/>
          </a:ln>
        </p:spPr>
      </p:sp>
      <p:sp>
        <p:nvSpPr>
          <p:cNvPr id="19" name="Shape 14"/>
          <p:cNvSpPr/>
          <p:nvPr/>
        </p:nvSpPr>
        <p:spPr>
          <a:xfrm>
            <a:off x="5916168" y="1371600"/>
            <a:ext cx="640080" cy="640080"/>
          </a:xfrm>
          <a:prstGeom prst="roundRect">
            <a:avLst>
              <a:gd name="adj" fmla="val 17143"/>
            </a:avLst>
          </a:prstGeom>
          <a:solidFill>
            <a:srgbClr val="14B8A6"/>
          </a:solidFill>
          <a:ln w="12700">
            <a:solidFill>
              <a:srgbClr val="14B8A6"/>
            </a:solidFill>
            <a:prstDash val="solid"/>
          </a:ln>
        </p:spPr>
      </p:sp>
      <p:pic>
        <p:nvPicPr>
          <p:cNvPr id="20" name="Image 3" descr="email icon">    </p:cNvPr>
          <p:cNvPicPr>
            <a:picLocks noChangeAspect="1"/>
          </p:cNvPicPr>
          <p:nvPr/>
        </p:nvPicPr>
        <p:blipFill>
          <a:blip r:embed="rId4"/>
          <a:stretch>
            <a:fillRect/>
          </a:stretch>
        </p:blipFill>
        <p:spPr>
          <a:xfrm>
            <a:off x="6082589" y="1538021"/>
            <a:ext cx="307238" cy="307238"/>
          </a:xfrm>
          <a:prstGeom prst="rect">
            <a:avLst/>
          </a:prstGeom>
        </p:spPr>
      </p:pic>
      <p:sp>
        <p:nvSpPr>
          <p:cNvPr id="21" name="Text 15"/>
          <p:cNvSpPr txBox="1"/>
          <p:nvPr/>
        </p:nvSpPr>
        <p:spPr>
          <a:xfrm>
            <a:off x="5504688"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Email</a:t>
            </a:r>
            <a:endParaRPr lang="en-US" sz="1500" dirty="0"/>
          </a:p>
        </p:txBody>
      </p:sp>
      <p:sp>
        <p:nvSpPr>
          <p:cNvPr id="22" name="Text 16"/>
          <p:cNvSpPr txBox="1"/>
          <p:nvPr/>
        </p:nvSpPr>
        <p:spPr>
          <a:xfrm>
            <a:off x="5504688"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Facts-only summary to the runbook owner</a:t>
            </a:r>
            <a:endParaRPr lang="en-US" sz="1100" dirty="0"/>
          </a:p>
        </p:txBody>
      </p:sp>
      <p:sp>
        <p:nvSpPr>
          <p:cNvPr id="23" name="Shape 17"/>
          <p:cNvSpPr/>
          <p:nvPr/>
        </p:nvSpPr>
        <p:spPr>
          <a:xfrm>
            <a:off x="6693408" y="1691640"/>
            <a:ext cx="640080" cy="0"/>
          </a:xfrm>
          <a:prstGeom prst="line">
            <a:avLst/>
          </a:prstGeom>
          <a:noFill/>
          <a:ln w="19050">
            <a:solidFill>
              <a:srgbClr val="475569"/>
            </a:solidFill>
            <a:prstDash val="solid"/>
            <a:tailEnd type="triangle"/>
          </a:ln>
        </p:spPr>
      </p:sp>
      <p:sp>
        <p:nvSpPr>
          <p:cNvPr id="24" name="Shape 18"/>
          <p:cNvSpPr/>
          <p:nvPr/>
        </p:nvSpPr>
        <p:spPr>
          <a:xfrm>
            <a:off x="7598664" y="1371600"/>
            <a:ext cx="640080" cy="640080"/>
          </a:xfrm>
          <a:prstGeom prst="roundRect">
            <a:avLst>
              <a:gd name="adj" fmla="val 17143"/>
            </a:avLst>
          </a:prstGeom>
          <a:solidFill>
            <a:srgbClr val="F5A524"/>
          </a:solidFill>
          <a:ln w="12700">
            <a:solidFill>
              <a:srgbClr val="F5A524"/>
            </a:solidFill>
            <a:prstDash val="solid"/>
          </a:ln>
        </p:spPr>
      </p:sp>
      <p:pic>
        <p:nvPicPr>
          <p:cNvPr id="25" name="Image 4" descr="reviewer icon">    </p:cNvPr>
          <p:cNvPicPr>
            <a:picLocks noChangeAspect="1"/>
          </p:cNvPicPr>
          <p:nvPr/>
        </p:nvPicPr>
        <p:blipFill>
          <a:blip r:embed="rId5"/>
          <a:stretch>
            <a:fillRect/>
          </a:stretch>
        </p:blipFill>
        <p:spPr>
          <a:xfrm>
            <a:off x="7765085" y="1538021"/>
            <a:ext cx="307238" cy="307238"/>
          </a:xfrm>
          <a:prstGeom prst="rect">
            <a:avLst/>
          </a:prstGeom>
        </p:spPr>
      </p:pic>
      <p:sp>
        <p:nvSpPr>
          <p:cNvPr id="26" name="Text 19"/>
          <p:cNvSpPr txBox="1"/>
          <p:nvPr/>
        </p:nvSpPr>
        <p:spPr>
          <a:xfrm>
            <a:off x="7187184" y="2103120"/>
            <a:ext cx="1463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Review</a:t>
            </a:r>
            <a:endParaRPr lang="en-US" sz="1500" dirty="0"/>
          </a:p>
        </p:txBody>
      </p:sp>
      <p:sp>
        <p:nvSpPr>
          <p:cNvPr id="27" name="Text 20"/>
          <p:cNvSpPr txBox="1"/>
          <p:nvPr/>
        </p:nvSpPr>
        <p:spPr>
          <a:xfrm>
            <a:off x="7187184" y="2450592"/>
            <a:ext cx="1463040" cy="68580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Open the report; a person starts any dry run</a:t>
            </a:r>
            <a:endParaRPr lang="en-US" sz="1100" dirty="0"/>
          </a:p>
        </p:txBody>
      </p:sp>
      <p:sp>
        <p:nvSpPr>
          <p:cNvPr id="28" name="Text 21"/>
          <p:cNvSpPr txBox="1"/>
          <p:nvPr/>
        </p:nvSpPr>
        <p:spPr>
          <a:xfrm>
            <a:off x="457200" y="3337560"/>
            <a:ext cx="3657600" cy="274320"/>
          </a:xfrm>
          <a:prstGeom prst="rect">
            <a:avLst/>
          </a:prstGeom>
          <a:noFill/>
          <a:ln/>
        </p:spPr>
        <p:txBody>
          <a:bodyPr wrap="square" lIns="0" tIns="0" rIns="0" bIns="0" rtlCol="0" anchor="ctr"/>
          <a:lstStyle/>
          <a:p>
            <a:pPr indent="0" marL="0">
              <a:buNone/>
            </a:pPr>
            <a:r>
              <a:rPr lang="en-US" sz="1200" b="1" dirty="0">
                <a:solidFill>
                  <a:srgbClr val="F5A524"/>
                </a:solidFill>
                <a:latin typeface="Arial" pitchFamily="34" charset="0"/>
                <a:ea typeface="Arial" pitchFamily="34" charset="-122"/>
                <a:cs typeface="Arial" pitchFamily="34" charset="-120"/>
              </a:rPr>
              <a:t>Cadences</a:t>
            </a:r>
            <a:endParaRPr lang="en-US" sz="1200" dirty="0"/>
          </a:p>
        </p:txBody>
      </p:sp>
      <p:sp>
        <p:nvSpPr>
          <p:cNvPr id="29" name="Shape 22"/>
          <p:cNvSpPr/>
          <p:nvPr/>
        </p:nvSpPr>
        <p:spPr>
          <a:xfrm>
            <a:off x="457200" y="3675888"/>
            <a:ext cx="1188720" cy="274320"/>
          </a:xfrm>
          <a:prstGeom prst="roundRect">
            <a:avLst>
              <a:gd name="adj" fmla="val 26667"/>
            </a:avLst>
          </a:prstGeom>
          <a:solidFill>
            <a:srgbClr val="14B8A6"/>
          </a:solidFill>
          <a:ln w="12700">
            <a:solidFill>
              <a:srgbClr val="14B8A6"/>
            </a:solidFill>
            <a:prstDash val="solid"/>
          </a:ln>
        </p:spPr>
      </p:sp>
      <p:sp>
        <p:nvSpPr>
          <p:cNvPr id="30" name="Text 23"/>
          <p:cNvSpPr txBox="1"/>
          <p:nvPr/>
        </p:nvSpPr>
        <p:spPr>
          <a:xfrm>
            <a:off x="457200" y="367588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daily</a:t>
            </a:r>
            <a:endParaRPr lang="en-US" sz="1100" dirty="0"/>
          </a:p>
        </p:txBody>
      </p:sp>
      <p:sp>
        <p:nvSpPr>
          <p:cNvPr id="31" name="Text 24"/>
          <p:cNvSpPr txBox="1"/>
          <p:nvPr/>
        </p:nvSpPr>
        <p:spPr>
          <a:xfrm>
            <a:off x="1783080" y="367588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every day at HH:MM</a:t>
            </a:r>
            <a:endParaRPr lang="en-US" sz="1200" dirty="0"/>
          </a:p>
        </p:txBody>
      </p:sp>
      <p:sp>
        <p:nvSpPr>
          <p:cNvPr id="32" name="Shape 25"/>
          <p:cNvSpPr/>
          <p:nvPr/>
        </p:nvSpPr>
        <p:spPr>
          <a:xfrm>
            <a:off x="457200" y="4041648"/>
            <a:ext cx="1188720" cy="274320"/>
          </a:xfrm>
          <a:prstGeom prst="roundRect">
            <a:avLst>
              <a:gd name="adj" fmla="val 26667"/>
            </a:avLst>
          </a:prstGeom>
          <a:solidFill>
            <a:srgbClr val="14B8A6"/>
          </a:solidFill>
          <a:ln w="12700">
            <a:solidFill>
              <a:srgbClr val="14B8A6"/>
            </a:solidFill>
            <a:prstDash val="solid"/>
          </a:ln>
        </p:spPr>
      </p:sp>
      <p:sp>
        <p:nvSpPr>
          <p:cNvPr id="33" name="Text 26"/>
          <p:cNvSpPr txBox="1"/>
          <p:nvPr/>
        </p:nvSpPr>
        <p:spPr>
          <a:xfrm>
            <a:off x="457200" y="404164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weekly</a:t>
            </a:r>
            <a:endParaRPr lang="en-US" sz="1100" dirty="0"/>
          </a:p>
        </p:txBody>
      </p:sp>
      <p:sp>
        <p:nvSpPr>
          <p:cNvPr id="34" name="Text 27"/>
          <p:cNvSpPr txBox="1"/>
          <p:nvPr/>
        </p:nvSpPr>
        <p:spPr>
          <a:xfrm>
            <a:off x="1783080" y="404164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chosen weekdays at HH:MM</a:t>
            </a:r>
            <a:endParaRPr lang="en-US" sz="1200" dirty="0"/>
          </a:p>
        </p:txBody>
      </p:sp>
      <p:sp>
        <p:nvSpPr>
          <p:cNvPr id="35" name="Shape 28"/>
          <p:cNvSpPr/>
          <p:nvPr/>
        </p:nvSpPr>
        <p:spPr>
          <a:xfrm>
            <a:off x="457200" y="4407408"/>
            <a:ext cx="1188720" cy="274320"/>
          </a:xfrm>
          <a:prstGeom prst="roundRect">
            <a:avLst>
              <a:gd name="adj" fmla="val 26667"/>
            </a:avLst>
          </a:prstGeom>
          <a:solidFill>
            <a:srgbClr val="14B8A6"/>
          </a:solidFill>
          <a:ln w="12700">
            <a:solidFill>
              <a:srgbClr val="14B8A6"/>
            </a:solidFill>
            <a:prstDash val="solid"/>
          </a:ln>
        </p:spPr>
      </p:sp>
      <p:sp>
        <p:nvSpPr>
          <p:cNvPr id="36" name="Text 29"/>
          <p:cNvSpPr txBox="1"/>
          <p:nvPr/>
        </p:nvSpPr>
        <p:spPr>
          <a:xfrm>
            <a:off x="457200" y="4407408"/>
            <a:ext cx="1188720" cy="274320"/>
          </a:xfrm>
          <a:prstGeom prst="rect">
            <a:avLst/>
          </a:prstGeom>
          <a:noFill/>
          <a:ln/>
        </p:spPr>
        <p:txBody>
          <a:bodyPr wrap="square" lIns="0" tIns="0" rIns="0" bIns="0" rtlCol="0" anchor="ctr"/>
          <a:lstStyle/>
          <a:p>
            <a:pPr algn="ctr" indent="0" marL="0">
              <a:buNone/>
            </a:pPr>
            <a:r>
              <a:rPr lang="en-US" sz="1100" b="1" dirty="0">
                <a:solidFill>
                  <a:srgbClr val="0E1726"/>
                </a:solidFill>
                <a:latin typeface="Calibri" pitchFamily="34" charset="0"/>
                <a:ea typeface="Calibri" pitchFamily="34" charset="-122"/>
                <a:cs typeface="Calibri" pitchFamily="34" charset="-120"/>
              </a:rPr>
              <a:t>monthly</a:t>
            </a:r>
            <a:endParaRPr lang="en-US" sz="1100" dirty="0"/>
          </a:p>
        </p:txBody>
      </p:sp>
      <p:sp>
        <p:nvSpPr>
          <p:cNvPr id="37" name="Text 30"/>
          <p:cNvSpPr txBox="1"/>
          <p:nvPr/>
        </p:nvSpPr>
        <p:spPr>
          <a:xfrm>
            <a:off x="1783080" y="4407408"/>
            <a:ext cx="2560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day 1-31 or the last day of the month</a:t>
            </a:r>
            <a:endParaRPr lang="en-US" sz="1200" dirty="0"/>
          </a:p>
        </p:txBody>
      </p:sp>
      <p:sp>
        <p:nvSpPr>
          <p:cNvPr id="38" name="Shape 31"/>
          <p:cNvSpPr/>
          <p:nvPr/>
        </p:nvSpPr>
        <p:spPr>
          <a:xfrm>
            <a:off x="4754880" y="3337560"/>
            <a:ext cx="3931920" cy="1143000"/>
          </a:xfrm>
          <a:prstGeom prst="roundRect">
            <a:avLst>
              <a:gd name="adj" fmla="val 8000"/>
            </a:avLst>
          </a:prstGeom>
          <a:solidFill>
            <a:srgbClr val="1B2A41"/>
          </a:solidFill>
          <a:ln w="12700">
            <a:solidFill>
              <a:srgbClr val="1B2A41"/>
            </a:solidFill>
            <a:prstDash val="solid"/>
          </a:ln>
        </p:spPr>
      </p:sp>
      <p:sp>
        <p:nvSpPr>
          <p:cNvPr id="39" name="Text 32"/>
          <p:cNvSpPr txBox="1"/>
          <p:nvPr/>
        </p:nvSpPr>
        <p:spPr>
          <a:xfrm>
            <a:off x="4937760" y="3474720"/>
            <a:ext cx="3657600" cy="960120"/>
          </a:xfrm>
          <a:prstGeom prst="rect">
            <a:avLst/>
          </a:prstGeom>
          <a:noFill/>
          <a:ln/>
        </p:spPr>
        <p:txBody>
          <a:bodyPr wrap="square" lIns="0" tIns="0" rIns="0" bIns="0" rtlCol="0" anchor="t"/>
          <a:lstStyle/>
          <a:p>
            <a:pPr indent="0" marL="0">
              <a:spcAft>
                <a:spcPts val="300"/>
              </a:spcAft>
              <a:buNone/>
            </a:pPr>
            <a:r>
              <a:rPr lang="en-US" sz="1200" b="1" dirty="0">
                <a:solidFill>
                  <a:srgbClr val="F5A524"/>
                </a:solidFill>
                <a:latin typeface="Calibri" pitchFamily="34" charset="0"/>
                <a:ea typeface="Calibri" pitchFamily="34" charset="-122"/>
                <a:cs typeface="Calibri" pitchFamily="34" charset="-120"/>
              </a:rPr>
              <a:t>Safe by design</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Analyzes and emails only, never executes</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Emails: code facts only, no runbook or LLM text</a:t>
            </a:r>
            <a:endParaRPr lang="en-US" sz="1200" dirty="0"/>
          </a:p>
          <a:p>
            <a:pPr marL="152400" indent="-152400">
              <a:spcAft>
                <a:spcPts val="300"/>
              </a:spcAft>
              <a:buSzPct val="100000"/>
              <a:buChar char="•"/>
            </a:pPr>
            <a:r>
              <a:rPr lang="en-US" sz="1200" dirty="0">
                <a:solidFill>
                  <a:srgbClr val="FFFFFF"/>
                </a:solidFill>
                <a:latin typeface="Calibri" pitchFamily="34" charset="0"/>
                <a:ea typeface="Calibri" pitchFamily="34" charset="-122"/>
                <a:cs typeface="Calibri" pitchFamily="34" charset="-120"/>
              </a:rPr>
              <a:t>Pause one or all, run now; missed slots run once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Readiness Agent</dc:title>
  <dc:subject>PptxGenJS Presentation</dc:subject>
  <dc:creator>PptxGenJS</dc:creator>
  <cp:lastModifiedBy>PptxGenJS</cp:lastModifiedBy>
  <cp:revision>1</cp:revision>
  <dcterms:created xsi:type="dcterms:W3CDTF">2026-09-25T14:21:36Z</dcterms:created>
  <dcterms:modified xsi:type="dcterms:W3CDTF">2026-09-25T14:21:36Z</dcterms:modified>
</cp:coreProperties>
</file>